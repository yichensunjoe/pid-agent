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保守</c:v>
                </c:pt>
              </c:strCache>
            </c:strRef>
          </c:tx>
          <c:spPr>
            <a:solidFill>
              <a:srgbClr val="3B82F6">
                <a:alpha val="80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A8B6C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第一年</c:v>
                  </c:pt>
                  <c:pt idx="1">
                    <c:v>第二年</c:v>
                  </c:pt>
                  <c:pt idx="2">
                    <c:v>第三年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100</c:v>
                </c:pt>
                <c:pt idx="2">
                  <c:v>500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乐观</c:v>
                </c:pt>
              </c:strCache>
            </c:strRef>
          </c:tx>
          <c:spPr>
            <a:solidFill>
              <a:srgbClr val="22D3EE">
                <a:alpha val="80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A8B6C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第一年</c:v>
                  </c:pt>
                  <c:pt idx="1">
                    <c:v>第二年</c:v>
                  </c:pt>
                  <c:pt idx="2">
                    <c:v>第三年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20</c:v>
                </c:pt>
                <c:pt idx="1">
                  <c:v>300</c:v>
                </c:pt>
                <c:pt idx="2">
                  <c:v>1000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A8B6C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A3B55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A8B6C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2A3B55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6788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B1220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A8B6C8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0B122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1E2C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68911" y="0"/>
            <a:ext cx="0" cy="6858000"/>
          </a:xfrm>
          <a:prstGeom prst="line">
            <a:avLst/>
          </a:prstGeom>
          <a:noFill/>
          <a:ln w="6350">
            <a:solidFill>
              <a:srgbClr val="1E2C4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7823" y="0"/>
            <a:ext cx="0" cy="6858000"/>
          </a:xfrm>
          <a:prstGeom prst="line">
            <a:avLst/>
          </a:prstGeom>
          <a:noFill/>
          <a:ln w="6350">
            <a:solidFill>
              <a:srgbClr val="1E2C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06734" y="0"/>
            <a:ext cx="0" cy="6858000"/>
          </a:xfrm>
          <a:prstGeom prst="line">
            <a:avLst/>
          </a:prstGeom>
          <a:noFill/>
          <a:ln w="6350">
            <a:solidFill>
              <a:srgbClr val="1E2C4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75645" y="0"/>
            <a:ext cx="0" cy="6858000"/>
          </a:xfrm>
          <a:prstGeom prst="line">
            <a:avLst/>
          </a:prstGeom>
          <a:noFill/>
          <a:ln w="6350">
            <a:solidFill>
              <a:srgbClr val="1E2C4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44557" y="0"/>
            <a:ext cx="0" cy="6858000"/>
          </a:xfrm>
          <a:prstGeom prst="line">
            <a:avLst/>
          </a:prstGeom>
          <a:noFill/>
          <a:ln w="6350">
            <a:solidFill>
              <a:srgbClr val="1E2C4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813468" y="0"/>
            <a:ext cx="0" cy="6858000"/>
          </a:xfrm>
          <a:prstGeom prst="line">
            <a:avLst/>
          </a:prstGeom>
          <a:noFill/>
          <a:ln w="6350">
            <a:solidFill>
              <a:srgbClr val="1E2C4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82379" y="0"/>
            <a:ext cx="0" cy="6858000"/>
          </a:xfrm>
          <a:prstGeom prst="line">
            <a:avLst/>
          </a:prstGeom>
          <a:noFill/>
          <a:ln w="6350">
            <a:solidFill>
              <a:srgbClr val="1E2C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751291" y="0"/>
            <a:ext cx="0" cy="6858000"/>
          </a:xfrm>
          <a:prstGeom prst="line">
            <a:avLst/>
          </a:prstGeom>
          <a:noFill/>
          <a:ln w="6350">
            <a:solidFill>
              <a:srgbClr val="1E2C4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20202" y="0"/>
            <a:ext cx="0" cy="6858000"/>
          </a:xfrm>
          <a:prstGeom prst="line">
            <a:avLst/>
          </a:prstGeom>
          <a:noFill/>
          <a:ln w="6350">
            <a:solidFill>
              <a:srgbClr val="1E2C4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89114" y="0"/>
            <a:ext cx="0" cy="6858000"/>
          </a:xfrm>
          <a:prstGeom prst="line">
            <a:avLst/>
          </a:prstGeom>
          <a:noFill/>
          <a:ln w="6350">
            <a:solidFill>
              <a:srgbClr val="1E2C4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158025" y="0"/>
            <a:ext cx="0" cy="6858000"/>
          </a:xfrm>
          <a:prstGeom prst="line">
            <a:avLst/>
          </a:prstGeom>
          <a:noFill/>
          <a:ln w="6350">
            <a:solidFill>
              <a:srgbClr val="1E2C4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26936" y="0"/>
            <a:ext cx="0" cy="6858000"/>
          </a:xfrm>
          <a:prstGeom prst="line">
            <a:avLst/>
          </a:prstGeom>
          <a:noFill/>
          <a:ln w="6350">
            <a:solidFill>
              <a:srgbClr val="1E2C4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95848" y="0"/>
            <a:ext cx="0" cy="6858000"/>
          </a:xfrm>
          <a:prstGeom prst="line">
            <a:avLst/>
          </a:prstGeom>
          <a:noFill/>
          <a:ln w="6350">
            <a:solidFill>
              <a:srgbClr val="1E2C4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64759" y="0"/>
            <a:ext cx="0" cy="6858000"/>
          </a:xfrm>
          <a:prstGeom prst="line">
            <a:avLst/>
          </a:prstGeom>
          <a:noFill/>
          <a:ln w="6350">
            <a:solidFill>
              <a:srgbClr val="1E2C4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33670" y="0"/>
            <a:ext cx="0" cy="6858000"/>
          </a:xfrm>
          <a:prstGeom prst="line">
            <a:avLst/>
          </a:prstGeom>
          <a:noFill/>
          <a:ln w="6350">
            <a:solidFill>
              <a:srgbClr val="1E2C4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502582" y="0"/>
            <a:ext cx="0" cy="6858000"/>
          </a:xfrm>
          <a:prstGeom prst="line">
            <a:avLst/>
          </a:prstGeom>
          <a:noFill/>
          <a:ln w="6350">
            <a:solidFill>
              <a:srgbClr val="1E2C4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71493" y="0"/>
            <a:ext cx="0" cy="6858000"/>
          </a:xfrm>
          <a:prstGeom prst="line">
            <a:avLst/>
          </a:prstGeom>
          <a:noFill/>
          <a:ln w="6350">
            <a:solidFill>
              <a:srgbClr val="1E2C4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40404" y="0"/>
            <a:ext cx="0" cy="6858000"/>
          </a:xfrm>
          <a:prstGeom prst="line">
            <a:avLst/>
          </a:prstGeom>
          <a:noFill/>
          <a:ln w="6350">
            <a:solidFill>
              <a:srgbClr val="1E2C4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909316" y="0"/>
            <a:ext cx="0" cy="6858000"/>
          </a:xfrm>
          <a:prstGeom prst="line">
            <a:avLst/>
          </a:prstGeom>
          <a:noFill/>
          <a:ln w="6350">
            <a:solidFill>
              <a:srgbClr val="1E2C4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378227" y="0"/>
            <a:ext cx="0" cy="6858000"/>
          </a:xfrm>
          <a:prstGeom prst="line">
            <a:avLst/>
          </a:prstGeom>
          <a:noFill/>
          <a:ln w="6350">
            <a:solidFill>
              <a:srgbClr val="1E2C4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847138" y="0"/>
            <a:ext cx="0" cy="6858000"/>
          </a:xfrm>
          <a:prstGeom prst="line">
            <a:avLst/>
          </a:prstGeom>
          <a:noFill/>
          <a:ln w="6350">
            <a:solidFill>
              <a:srgbClr val="1E2C4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316050" y="0"/>
            <a:ext cx="0" cy="6858000"/>
          </a:xfrm>
          <a:prstGeom prst="line">
            <a:avLst/>
          </a:prstGeom>
          <a:noFill/>
          <a:ln w="6350">
            <a:solidFill>
              <a:srgbClr val="1E2C4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784961" y="0"/>
            <a:ext cx="0" cy="6858000"/>
          </a:xfrm>
          <a:prstGeom prst="line">
            <a:avLst/>
          </a:prstGeom>
          <a:noFill/>
          <a:ln w="6350">
            <a:solidFill>
              <a:srgbClr val="1E2C4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253872" y="0"/>
            <a:ext cx="0" cy="6858000"/>
          </a:xfrm>
          <a:prstGeom prst="line">
            <a:avLst/>
          </a:prstGeom>
          <a:noFill/>
          <a:ln w="6350">
            <a:solidFill>
              <a:srgbClr val="1E2C4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722784" y="0"/>
            <a:ext cx="0" cy="6858000"/>
          </a:xfrm>
          <a:prstGeom prst="line">
            <a:avLst/>
          </a:prstGeom>
          <a:noFill/>
          <a:ln w="6350">
            <a:solidFill>
              <a:srgbClr val="1E2C4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2191695" y="0"/>
            <a:ext cx="0" cy="6858000"/>
          </a:xfrm>
          <a:prstGeom prst="line">
            <a:avLst/>
          </a:prstGeom>
          <a:noFill/>
          <a:ln w="6350">
            <a:solidFill>
              <a:srgbClr val="1E2C4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1E2C4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457200"/>
            <a:ext cx="12191695" cy="0"/>
          </a:xfrm>
          <a:prstGeom prst="line">
            <a:avLst/>
          </a:prstGeom>
          <a:noFill/>
          <a:ln w="6350">
            <a:solidFill>
              <a:srgbClr val="1E2C4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914400"/>
            <a:ext cx="12191695" cy="0"/>
          </a:xfrm>
          <a:prstGeom prst="line">
            <a:avLst/>
          </a:prstGeom>
          <a:noFill/>
          <a:ln w="6350">
            <a:solidFill>
              <a:srgbClr val="1E2C4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1371600"/>
            <a:ext cx="12191695" cy="0"/>
          </a:xfrm>
          <a:prstGeom prst="line">
            <a:avLst/>
          </a:prstGeom>
          <a:noFill/>
          <a:ln w="6350">
            <a:solidFill>
              <a:srgbClr val="1E2C4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1828800"/>
            <a:ext cx="12191695" cy="0"/>
          </a:xfrm>
          <a:prstGeom prst="line">
            <a:avLst/>
          </a:prstGeom>
          <a:noFill/>
          <a:ln w="6350">
            <a:solidFill>
              <a:srgbClr val="1E2C4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2286000"/>
            <a:ext cx="12191695" cy="0"/>
          </a:xfrm>
          <a:prstGeom prst="line">
            <a:avLst/>
          </a:prstGeom>
          <a:noFill/>
          <a:ln w="6350">
            <a:solidFill>
              <a:srgbClr val="1E2C4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6350">
            <a:solidFill>
              <a:srgbClr val="1E2C4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3200400"/>
            <a:ext cx="12191695" cy="0"/>
          </a:xfrm>
          <a:prstGeom prst="line">
            <a:avLst/>
          </a:prstGeom>
          <a:noFill/>
          <a:ln w="6350">
            <a:solidFill>
              <a:srgbClr val="1E2C4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3657600"/>
            <a:ext cx="12191695" cy="0"/>
          </a:xfrm>
          <a:prstGeom prst="line">
            <a:avLst/>
          </a:prstGeom>
          <a:noFill/>
          <a:ln w="6350">
            <a:solidFill>
              <a:srgbClr val="1E2C4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114800"/>
            <a:ext cx="12191695" cy="0"/>
          </a:xfrm>
          <a:prstGeom prst="line">
            <a:avLst/>
          </a:prstGeom>
          <a:noFill/>
          <a:ln w="6350">
            <a:solidFill>
              <a:srgbClr val="1E2C4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4572000"/>
            <a:ext cx="12191695" cy="0"/>
          </a:xfrm>
          <a:prstGeom prst="line">
            <a:avLst/>
          </a:prstGeom>
          <a:noFill/>
          <a:ln w="6350">
            <a:solidFill>
              <a:srgbClr val="1E2C4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5029200"/>
            <a:ext cx="12191695" cy="0"/>
          </a:xfrm>
          <a:prstGeom prst="line">
            <a:avLst/>
          </a:prstGeom>
          <a:noFill/>
          <a:ln w="6350">
            <a:solidFill>
              <a:srgbClr val="1E2C4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6350">
            <a:solidFill>
              <a:srgbClr val="1E2C4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5943600"/>
            <a:ext cx="12191695" cy="0"/>
          </a:xfrm>
          <a:prstGeom prst="line">
            <a:avLst/>
          </a:prstGeom>
          <a:noFill/>
          <a:ln w="6350">
            <a:solidFill>
              <a:srgbClr val="1E2C4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0" y="6400800"/>
            <a:ext cx="12191695" cy="0"/>
          </a:xfrm>
          <a:prstGeom prst="line">
            <a:avLst/>
          </a:prstGeom>
          <a:noFill/>
          <a:ln w="6350">
            <a:solidFill>
              <a:srgbClr val="1E2C4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0" y="6858000"/>
            <a:ext cx="12191695" cy="0"/>
          </a:xfrm>
          <a:prstGeom prst="line">
            <a:avLst/>
          </a:prstGeom>
          <a:noFill/>
          <a:ln w="6350">
            <a:solidFill>
              <a:srgbClr val="1E2C4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561320" y="91440"/>
            <a:ext cx="1600200" cy="1600200"/>
          </a:xfrm>
          <a:prstGeom prst="ellipse">
            <a:avLst/>
          </a:prstGeom>
          <a:solidFill>
            <a:srgbClr val="22D3EE">
              <a:alpha val="10000"/>
            </a:srgbClr>
          </a:solidFill>
          <a:ln w="6350">
            <a:solidFill>
              <a:srgbClr val="0B122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1109960" y="640080"/>
            <a:ext cx="1005840" cy="1005840"/>
          </a:xfrm>
          <a:prstGeom prst="ellipse">
            <a:avLst/>
          </a:prstGeom>
          <a:solidFill>
            <a:srgbClr val="3B82F6">
              <a:alpha val="14000"/>
            </a:srgbClr>
          </a:solidFill>
          <a:ln w="6350">
            <a:solidFill>
              <a:srgbClr val="0B122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85800" y="548640"/>
            <a:ext cx="960120" cy="384048"/>
          </a:xfrm>
          <a:prstGeom prst="roundRect">
            <a:avLst>
              <a:gd name="adj" fmla="val 23810"/>
            </a:avLst>
          </a:prstGeom>
          <a:solidFill>
            <a:srgbClr val="22D3EE"/>
          </a:solidFill>
          <a:ln/>
        </p:spPr>
      </p:sp>
      <p:sp>
        <p:nvSpPr>
          <p:cNvPr id="48" name="Text 46"/>
          <p:cNvSpPr/>
          <p:nvPr/>
        </p:nvSpPr>
        <p:spPr>
          <a:xfrm>
            <a:off x="685800" y="608076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2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P&amp;ID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1755648" y="62179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B6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G E N T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713232" y="1691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青创大赛 · 项目路演 · 2026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658368" y="2057400"/>
            <a:ext cx="5212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P&amp;ID-Agent</a:t>
            </a:r>
            <a:endParaRPr lang="en-US" sz="4800" dirty="0"/>
          </a:p>
        </p:txBody>
      </p:sp>
      <p:sp>
        <p:nvSpPr>
          <p:cNvPr id="52" name="Text 50"/>
          <p:cNvSpPr/>
          <p:nvPr/>
        </p:nvSpPr>
        <p:spPr>
          <a:xfrm>
            <a:off x="713232" y="2999232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BDE9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人机协同的智能工艺流程图设计平台</a:t>
            </a:r>
            <a:endParaRPr lang="en-US" sz="2100" dirty="0"/>
          </a:p>
        </p:txBody>
      </p:sp>
      <p:sp>
        <p:nvSpPr>
          <p:cNvPr id="53" name="Shape 51"/>
          <p:cNvSpPr/>
          <p:nvPr/>
        </p:nvSpPr>
        <p:spPr>
          <a:xfrm>
            <a:off x="713232" y="3584448"/>
            <a:ext cx="1371600" cy="4572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4" name="Text 52"/>
          <p:cNvSpPr/>
          <p:nvPr/>
        </p:nvSpPr>
        <p:spPr>
          <a:xfrm>
            <a:off x="713232" y="379476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8B6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让工程师与 AI 共用一张图、同一种语言、同一套规则</a:t>
            </a:r>
            <a:endParaRPr lang="en-US" sz="1350" dirty="0"/>
          </a:p>
        </p:txBody>
      </p:sp>
      <p:sp>
        <p:nvSpPr>
          <p:cNvPr id="55" name="Shape 53"/>
          <p:cNvSpPr/>
          <p:nvPr/>
        </p:nvSpPr>
        <p:spPr>
          <a:xfrm>
            <a:off x="713232" y="4572000"/>
            <a:ext cx="1050798" cy="292608"/>
          </a:xfrm>
          <a:prstGeom prst="roundRect">
            <a:avLst>
              <a:gd name="adj" fmla="val 50000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2A3B5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86384" y="4613148"/>
            <a:ext cx="904494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8B6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浏览器原生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1992630" y="4572000"/>
            <a:ext cx="862775" cy="292608"/>
          </a:xfrm>
          <a:prstGeom prst="roundRect">
            <a:avLst>
              <a:gd name="adj" fmla="val 50000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2A3B5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065782" y="4613148"/>
            <a:ext cx="716471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8B6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原生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3084005" y="4572000"/>
            <a:ext cx="945452" cy="292608"/>
          </a:xfrm>
          <a:prstGeom prst="roundRect">
            <a:avLst>
              <a:gd name="adj" fmla="val 50000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2A3B5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157157" y="4613148"/>
            <a:ext cx="799148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8B6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 MIT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4258056" y="4572000"/>
            <a:ext cx="945452" cy="292608"/>
          </a:xfrm>
          <a:prstGeom prst="roundRect">
            <a:avLst>
              <a:gd name="adj" fmla="val 50000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2A3B55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331208" y="4613148"/>
            <a:ext cx="799148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8B6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 协议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713232" y="59893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5DE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国家电投集团钍基能源科技有限公司</a:t>
            </a:r>
            <a:endParaRPr lang="en-US" sz="1250" dirty="0"/>
          </a:p>
        </p:txBody>
      </p:sp>
      <p:sp>
        <p:nvSpPr>
          <p:cNvPr id="64" name="Text 62"/>
          <p:cNvSpPr/>
          <p:nvPr/>
        </p:nvSpPr>
        <p:spPr>
          <a:xfrm>
            <a:off x="713232" y="632764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8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 开源 · v2.1.0-alpha.1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6172200" y="914400"/>
            <a:ext cx="5349240" cy="4526280"/>
          </a:xfrm>
          <a:prstGeom prst="roundRect">
            <a:avLst>
              <a:gd name="adj" fmla="val 1414"/>
            </a:avLst>
          </a:prstGeom>
          <a:solidFill>
            <a:srgbClr val="FFFFFF"/>
          </a:solidFill>
          <a:ln w="12700">
            <a:solidFill>
              <a:srgbClr val="2C3E5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pic>
        <p:nvPicPr>
          <p:cNvPr id="66" name="Image 0" descr="assets/argon_pid_fi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91072" y="1034009"/>
            <a:ext cx="5111496" cy="4287061"/>
          </a:xfrm>
          <a:prstGeom prst="rect">
            <a:avLst/>
          </a:prstGeom>
        </p:spPr>
      </p:pic>
      <p:sp>
        <p:nvSpPr>
          <p:cNvPr id="67" name="Text 64"/>
          <p:cNvSpPr/>
          <p:nvPr/>
        </p:nvSpPr>
        <p:spPr>
          <a:xfrm>
            <a:off x="6172200" y="5513832"/>
            <a:ext cx="5349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6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氩气供气与循环系统 P&amp;ID（闭式循环）· 444 图元 · 由 P&amp;ID-Agent 绘制</a:t>
            </a:r>
            <a:endParaRPr lang="en-US" sz="1000" dirty="0"/>
          </a:p>
        </p:txBody>
      </p:sp>
      <p:sp>
        <p:nvSpPr>
          <p:cNvPr id="68" name="Text 65"/>
          <p:cNvSpPr/>
          <p:nvPr/>
        </p:nvSpPr>
        <p:spPr>
          <a:xfrm>
            <a:off x="6172200" y="5806440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结构化图纸：全元素可选中 · 可修改 · 可导出 PDF / DXF / CSV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91440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333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CONTENTS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85800" y="17830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85800" y="2468880"/>
            <a:ext cx="384048" cy="4114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4663440" y="132588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623560" y="1353312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为什么做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818120" y="142646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B6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行业痛点与机会窗口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23560" y="1892808"/>
            <a:ext cx="5852160" cy="0"/>
          </a:xfrm>
          <a:prstGeom prst="line">
            <a:avLst/>
          </a:prstGeom>
          <a:noFill/>
          <a:ln w="9525">
            <a:solidFill>
              <a:srgbClr val="1E2C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440" y="219456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623560" y="2221992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做什么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7818120" y="229514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B6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产品定位与核心能力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23560" y="2761488"/>
            <a:ext cx="5852160" cy="0"/>
          </a:xfrm>
          <a:prstGeom prst="line">
            <a:avLst/>
          </a:prstGeom>
          <a:noFill/>
          <a:ln w="9525">
            <a:solidFill>
              <a:srgbClr val="1E2C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306324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623560" y="3090672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凭什么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7818120" y="316382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B6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四层可靠性架构与验收证据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23560" y="3630168"/>
            <a:ext cx="5852160" cy="0"/>
          </a:xfrm>
          <a:prstGeom prst="line">
            <a:avLst/>
          </a:prstGeom>
          <a:noFill/>
          <a:ln w="9525">
            <a:solidFill>
              <a:srgbClr val="1E2C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393192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5623560" y="3959352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卖给谁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7818120" y="403250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B6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市场、竞争与商业模式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623560" y="4498848"/>
            <a:ext cx="5852160" cy="0"/>
          </a:xfrm>
          <a:prstGeom prst="line">
            <a:avLst/>
          </a:prstGeom>
          <a:noFill/>
          <a:ln w="9525">
            <a:solidFill>
              <a:srgbClr val="1E2C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480060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5623560" y="4828032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怎么走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7818120" y="490118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B6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团队、实施计划与经济效益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623560" y="5367528"/>
            <a:ext cx="5852160" cy="0"/>
          </a:xfrm>
          <a:prstGeom prst="line">
            <a:avLst/>
          </a:prstGeom>
          <a:noFill/>
          <a:ln w="9525">
            <a:solidFill>
              <a:srgbClr val="1E2C4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63440" y="5623560"/>
            <a:ext cx="6812280" cy="731520"/>
          </a:xfrm>
          <a:prstGeom prst="roundRect">
            <a:avLst>
              <a:gd name="adj" fmla="val 875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2A3B55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892040" y="57150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当前状态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92040" y="5998464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v2.1.0-alpha.1 已开源（MIT）· 原型 / Alpha / Beta 三个里程碑已按期完成 · CI 全绿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85800" y="6528816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8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P&amp;ID-Agent · 人机协同智能工艺流程图设计平台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9448495" y="6528816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8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青创大赛路演 · 2026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1140135" y="651052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· 为什么做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85800" y="658368"/>
            <a:ext cx="384048" cy="4114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749808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一张 P&amp;ID 贯穿工程全生命周期，工具却还停在十年前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85800" y="1664208"/>
            <a:ext cx="10820095" cy="0"/>
          </a:xfrm>
          <a:prstGeom prst="line">
            <a:avLst/>
          </a:prstGeom>
          <a:noFill/>
          <a:ln w="9525">
            <a:solidFill>
              <a:srgbClr val="1E2C4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828800"/>
            <a:ext cx="5303520" cy="1463040"/>
          </a:xfrm>
          <a:prstGeom prst="roundRect">
            <a:avLst>
              <a:gd name="adj" fmla="val 4375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2A3B55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50392" y="2084832"/>
            <a:ext cx="54864" cy="38404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8" name="Text 6"/>
          <p:cNvSpPr/>
          <p:nvPr/>
        </p:nvSpPr>
        <p:spPr>
          <a:xfrm>
            <a:off x="1069848" y="1993392"/>
            <a:ext cx="4754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上手门槛高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1069848" y="2377440"/>
            <a:ext cx="470916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8B6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通用 CAD 体量大、命令多；画出一张规范的 P&amp;ID，依赖工程师多年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8B6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的经验与规范积累。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1828800"/>
            <a:ext cx="5303520" cy="1463040"/>
          </a:xfrm>
          <a:prstGeom prst="roundRect">
            <a:avLst>
              <a:gd name="adj" fmla="val 4375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2A3B55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82512" y="2084832"/>
            <a:ext cx="54864" cy="38404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6601968" y="1993392"/>
            <a:ext cx="4754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图纸没有语义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601968" y="2377440"/>
            <a:ext cx="470916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8B6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设备、管线、连接关系只是图形元素，机器读不懂，无法自动检查、统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8B6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计、复用。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5800" y="3520440"/>
            <a:ext cx="5303520" cy="1463040"/>
          </a:xfrm>
          <a:prstGeom prst="roundRect">
            <a:avLst>
              <a:gd name="adj" fmla="val 4375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2A3B55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50392" y="3776472"/>
            <a:ext cx="54864" cy="38404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6" name="Text 14"/>
          <p:cNvSpPr/>
          <p:nvPr/>
        </p:nvSpPr>
        <p:spPr>
          <a:xfrm>
            <a:off x="1069848" y="3685032"/>
            <a:ext cx="4754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介入不足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1069848" y="4069080"/>
            <a:ext cx="470916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8B6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工程行业对 AI 辅助设计需求迫切，却一直没有一款为流程设计而生的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8B6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轻量工具。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17920" y="3520440"/>
            <a:ext cx="5303520" cy="1463040"/>
          </a:xfrm>
          <a:prstGeom prst="roundRect">
            <a:avLst>
              <a:gd name="adj" fmla="val 4375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2A3B55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382512" y="3776472"/>
            <a:ext cx="54864" cy="38404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0" name="Text 18"/>
          <p:cNvSpPr/>
          <p:nvPr/>
        </p:nvSpPr>
        <p:spPr>
          <a:xfrm>
            <a:off x="6601968" y="3685032"/>
            <a:ext cx="4754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人机两张图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6601968" y="4069080"/>
            <a:ext cx="470916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8B6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人工修改与 AI 自动生成互相脱节，版本冲突、返工是常态，效率被内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8B6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耗掉。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85800" y="5349240"/>
            <a:ext cx="10817352" cy="868680"/>
          </a:xfrm>
          <a:prstGeom prst="roundRect">
            <a:avLst>
              <a:gd name="adj" fmla="val 7368"/>
            </a:avLst>
          </a:prstGeom>
          <a:solidFill>
            <a:srgbClr val="22D3EE">
              <a:alpha val="7000"/>
            </a:srgbClr>
          </a:solidFill>
          <a:ln w="9525">
            <a:solidFill>
              <a:srgbClr val="155E75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14400" y="54864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P&amp;ID 是最核心的系统设计文件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14400" y="5779008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概念设计 → 初步设计 → 施工设计 → 建安运维，全程依赖；而核能、化工、电力正处于数字化与 AI 应用的窗口期。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85800" y="6528816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8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P&amp;ID-Agent · 人机协同智能工艺流程图设计平台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9448495" y="6528816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8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青创大赛路演 · 2026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1140135" y="651052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· 做什么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85800" y="658368"/>
            <a:ext cx="384048" cy="4114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749808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只做 P&amp;ID 这一件事，把它做到轻、准、通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85800" y="1664208"/>
            <a:ext cx="10820095" cy="0"/>
          </a:xfrm>
          <a:prstGeom prst="line">
            <a:avLst/>
          </a:prstGeom>
          <a:noFill/>
          <a:ln w="9525">
            <a:solidFill>
              <a:srgbClr val="1E2C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828800"/>
            <a:ext cx="10817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DE9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P&amp;ID-Agent —— 浏览器端、人机共编的工艺流程图专用工具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85800" y="2514600"/>
            <a:ext cx="3502152" cy="2377440"/>
          </a:xfrm>
          <a:prstGeom prst="roundRect">
            <a:avLst>
              <a:gd name="adj" fmla="val 2692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2A3B55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60120" y="2743200"/>
            <a:ext cx="658368" cy="658368"/>
          </a:xfrm>
          <a:prstGeom prst="ellipse">
            <a:avLst/>
          </a:prstGeom>
          <a:solidFill>
            <a:srgbClr val="22D3EE">
              <a:alpha val="18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834640"/>
            <a:ext cx="6583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783080" y="286207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浏览器即用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60120" y="3383280"/>
            <a:ext cx="2953512" cy="5105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A8B6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打开网页就能画，零安装、零运维；拖放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A8B6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即绘图，几分钟上手。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416552" y="2514600"/>
            <a:ext cx="3502152" cy="2377440"/>
          </a:xfrm>
          <a:prstGeom prst="roundRect">
            <a:avLst>
              <a:gd name="adj" fmla="val 2692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2A3B55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90872" y="2743200"/>
            <a:ext cx="658368" cy="658368"/>
          </a:xfrm>
          <a:prstGeom prst="ellipse">
            <a:avLst/>
          </a:prstGeom>
          <a:solidFill>
            <a:srgbClr val="22D3EE">
              <a:alpha val="18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90872" y="2834640"/>
            <a:ext cx="6583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5513832" y="286207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图纸有语义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690872" y="3383280"/>
            <a:ext cx="2953512" cy="5105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A8B6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端口、管线、节点全部结构化，AI 读得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A8B6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懂、查得出问题、一键出报表。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147304" y="2514600"/>
            <a:ext cx="3502152" cy="2377440"/>
          </a:xfrm>
          <a:prstGeom prst="roundRect">
            <a:avLst>
              <a:gd name="adj" fmla="val 2692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2A3B55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421624" y="2743200"/>
            <a:ext cx="658368" cy="658368"/>
          </a:xfrm>
          <a:prstGeom prst="ellipse">
            <a:avLst/>
          </a:prstGeom>
          <a:solidFill>
            <a:srgbClr val="22D3EE">
              <a:alpha val="18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21624" y="2834640"/>
            <a:ext cx="6583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9244584" y="286207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人机共编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421624" y="3383280"/>
            <a:ext cx="2953512" cy="5105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A8B6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人工与 AI 操作同一份文档、同一套图例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A8B6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，revision 并发控制，互不覆盖。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85800" y="5212080"/>
            <a:ext cx="10817352" cy="868680"/>
          </a:xfrm>
          <a:prstGeom prst="roundRect">
            <a:avLst>
              <a:gd name="adj" fmla="val 7368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2A3B55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14400" y="534009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明确的边界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14400" y="5632704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不造第二个 AutoCAD：不做三维、BIM、机械零件与通用命令堆砌——把力气全部花在“画好一张流程图”上。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85800" y="6528816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8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P&amp;ID-Agent · 人机协同智能工艺流程图设计平台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9448495" y="6528816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8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青创大赛路演 · 2026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1140135" y="651052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· 做什么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85800" y="658368"/>
            <a:ext cx="384048" cy="4114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749808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工程师熟悉的画图体验，一样都不少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85800" y="1664208"/>
            <a:ext cx="10820095" cy="0"/>
          </a:xfrm>
          <a:prstGeom prst="line">
            <a:avLst/>
          </a:prstGeom>
          <a:noFill/>
          <a:ln w="9525">
            <a:solidFill>
              <a:srgbClr val="1E2C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874520"/>
            <a:ext cx="50292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▪"/>
            </a:pPr>
            <a:r>
              <a:rPr lang="en-US" sz="1250" dirty="0">
                <a:solidFill>
                  <a:srgbClr val="C9D4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设备图形拖放 + 端口吸附，管线只连真实端口</a:t>
            </a:r>
            <a:endParaRPr lang="en-US" sz="1250" dirty="0"/>
          </a:p>
          <a:p>
            <a:pPr marL="177800" indent="-177800">
              <a:buSzPct val="100000"/>
              <a:buChar char="▪"/>
            </a:pPr>
            <a:r>
              <a:rPr lang="en-US" sz="1250" dirty="0">
                <a:solidFill>
                  <a:srgbClr val="C9D4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正交管线、折点调整、跨线桥，相交≠连接</a:t>
            </a:r>
            <a:endParaRPr lang="en-US" sz="1250" dirty="0"/>
          </a:p>
          <a:p>
            <a:pPr marL="177800" indent="-177800">
              <a:buSzPct val="100000"/>
              <a:buChar char="▪"/>
            </a:pPr>
            <a:r>
              <a:rPr lang="en-US" sz="1250" dirty="0">
                <a:solidFill>
                  <a:srgbClr val="C9D4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连接节点：主管线原子拆分，真实分支/汇合拓扑</a:t>
            </a:r>
            <a:endParaRPr lang="en-US" sz="1250" dirty="0"/>
          </a:p>
          <a:p>
            <a:pPr marL="177800" indent="-177800">
              <a:buSzPct val="100000"/>
              <a:buChar char="▪"/>
            </a:pPr>
            <a:r>
              <a:rPr lang="en-US" sz="1250" dirty="0">
                <a:solidFill>
                  <a:srgbClr val="C9D4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多选 / 框选 / 复制粘贴 / 撤销重做，全流程快捷键</a:t>
            </a:r>
            <a:endParaRPr lang="en-US" sz="1250" dirty="0"/>
          </a:p>
          <a:p>
            <a:pPr marL="177800" indent="-177800">
              <a:buSzPct val="100000"/>
              <a:buChar char="▪"/>
            </a:pPr>
            <a:r>
              <a:rPr lang="en-US" sz="1250" dirty="0">
                <a:solidFill>
                  <a:srgbClr val="C9D4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图层、锁定、批量属性、大图 minimap 导航</a:t>
            </a:r>
            <a:endParaRPr lang="en-US" sz="1250" dirty="0"/>
          </a:p>
          <a:p>
            <a:pPr marL="177800" indent="-177800">
              <a:buSzPct val="100000"/>
              <a:buChar char="▪"/>
            </a:pPr>
            <a:r>
              <a:rPr lang="en-US" sz="1250" dirty="0">
                <a:solidFill>
                  <a:srgbClr val="C9D4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中键平移 · 滚轮缩放 · 网格吸附，操作零学习成本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85800" y="5806440"/>
            <a:ext cx="5029200" cy="502920"/>
          </a:xfrm>
          <a:prstGeom prst="roundRect">
            <a:avLst>
              <a:gd name="adj" fmla="val 12727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2A3B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5907024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92 项前端单元测试 · 37 项浏览器端到端验收 · 视觉快照回归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989320" y="1828800"/>
            <a:ext cx="5486400" cy="3657600"/>
          </a:xfrm>
          <a:prstGeom prst="roundRect">
            <a:avLst>
              <a:gd name="adj" fmla="val 1750"/>
            </a:avLst>
          </a:prstGeom>
          <a:solidFill>
            <a:srgbClr val="FFFFFF"/>
          </a:solidFill>
          <a:ln w="12700">
            <a:solidFill>
              <a:srgbClr val="2C3E5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pic>
        <p:nvPicPr>
          <p:cNvPr id="10" name="Image 0" descr="assets/engineering-draw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67628" y="1947672"/>
            <a:ext cx="5129784" cy="34198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989320" y="5559552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6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浏览器编辑器实拍：主管线 + 支路 + 仪表，全元素可选中、可修改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989320" y="5897880"/>
            <a:ext cx="1212152" cy="292608"/>
          </a:xfrm>
          <a:prstGeom prst="roundRect">
            <a:avLst>
              <a:gd name="adj" fmla="val 50000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2A3B5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062472" y="5939028"/>
            <a:ext cx="1065848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8B6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SVG 实时渲染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7178040" y="5897880"/>
            <a:ext cx="1050798" cy="292608"/>
          </a:xfrm>
          <a:prstGeom prst="roundRect">
            <a:avLst>
              <a:gd name="adj" fmla="val 50000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2A3B5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251192" y="5939028"/>
            <a:ext cx="904494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8B6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深浅双主题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8366760" y="5897880"/>
            <a:ext cx="917448" cy="292608"/>
          </a:xfrm>
          <a:prstGeom prst="roundRect">
            <a:avLst>
              <a:gd name="adj" fmla="val 50000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2A3B5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439912" y="5939028"/>
            <a:ext cx="771144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8B6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命令面板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685800" y="6528816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8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P&amp;ID-Agent · 人机协同智能工艺流程图设计平台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9448495" y="6528816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8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青创大赛路演 · 2026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11140135" y="651052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· 做什么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85800" y="658368"/>
            <a:ext cx="384048" cy="4114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749808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 Demo 玩具：一张真实工程的氩气系统 P&amp;ID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85800" y="1664208"/>
            <a:ext cx="10820095" cy="0"/>
          </a:xfrm>
          <a:prstGeom prst="line">
            <a:avLst/>
          </a:prstGeom>
          <a:noFill/>
          <a:ln w="9525">
            <a:solidFill>
              <a:srgbClr val="1E2C4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874520"/>
            <a:ext cx="6949440" cy="4343400"/>
          </a:xfrm>
          <a:prstGeom prst="roundRect">
            <a:avLst>
              <a:gd name="adj" fmla="val 1474"/>
            </a:avLst>
          </a:prstGeom>
          <a:solidFill>
            <a:srgbClr val="FFFFFF"/>
          </a:solidFill>
          <a:ln w="12700">
            <a:solidFill>
              <a:srgbClr val="2C3E5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pic>
        <p:nvPicPr>
          <p:cNvPr id="7" name="Image 0" descr="assets/argon_pid_fi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2917" y="1993392"/>
            <a:ext cx="4895205" cy="41056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6291072"/>
            <a:ext cx="6949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6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氩气供气与循环系统（闭式循环）· 444 图元 · 可继续编辑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7863840" y="1874520"/>
            <a:ext cx="3657600" cy="1298448"/>
          </a:xfrm>
          <a:prstGeom prst="roundRect">
            <a:avLst>
              <a:gd name="adj" fmla="val 4930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2A3B55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092440" y="201168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三回路按介质着色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8092440" y="2377440"/>
            <a:ext cx="3200400" cy="460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8B6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供气（蓝）→ 尾气冷凝（绿）→ 循环（红），工</a:t>
            </a: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8B6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程逻辑一目了然。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863840" y="3337560"/>
            <a:ext cx="3657600" cy="1298448"/>
          </a:xfrm>
          <a:prstGeom prst="roundRect">
            <a:avLst>
              <a:gd name="adj" fmla="val 4930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2A3B55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092440" y="347472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全谱设备图例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8092440" y="3840480"/>
            <a:ext cx="3200400" cy="460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8B6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供气柜、盐循环泵、溢流罐、过滤器、换热器 + 2</a:t>
            </a: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8B6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 余个止回阀、24 块压力表。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863840" y="4800600"/>
            <a:ext cx="3657600" cy="1298448"/>
          </a:xfrm>
          <a:prstGeom prst="roundRect">
            <a:avLst>
              <a:gd name="adj" fmla="val 4930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2A3B55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8092440" y="493776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交付级导出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8092440" y="5303520"/>
            <a:ext cx="3200400" cy="460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8B6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PDF / PNG / DXF / JSON 一键导出，设备表、</a:t>
            </a: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8B6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管线表、仪表索引自动生成。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7863840" y="6309360"/>
            <a:ext cx="3657600" cy="0"/>
          </a:xfrm>
          <a:prstGeom prst="roundRect">
            <a:avLst>
              <a:gd name="adj" fmla="val Infinity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2A3B5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863840" y="61996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8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结构化数据 → 可查询、可检查、可导入导出，不只是像素。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685800" y="6528816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8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P&amp;ID-Agent · 人机协同智能工艺流程图设计平台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9448495" y="6528816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8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青创大赛路演 · 2026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11140135" y="651052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· 凭什么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85800" y="658368"/>
            <a:ext cx="384048" cy="4114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749808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画图靠不靠谱？四层确定性边界把风险关在门外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85800" y="1664208"/>
            <a:ext cx="10820095" cy="0"/>
          </a:xfrm>
          <a:prstGeom prst="line">
            <a:avLst/>
          </a:prstGeom>
          <a:noFill/>
          <a:ln w="9525">
            <a:solidFill>
              <a:srgbClr val="1E2C4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828800"/>
            <a:ext cx="2587752" cy="2331720"/>
          </a:xfrm>
          <a:prstGeom prst="roundRect">
            <a:avLst>
              <a:gd name="adj" fmla="val 2745"/>
            </a:avLst>
          </a:prstGeom>
          <a:solidFill>
            <a:srgbClr val="FFFFFF">
              <a:alpha val="5000"/>
            </a:srgbClr>
          </a:solidFill>
          <a:ln w="13970">
            <a:solidFill>
              <a:srgbClr val="3B82F6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201168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模型只出拓扑计划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2743200"/>
            <a:ext cx="2240280" cy="460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8B6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输出图例 key、真实端口与连接</a:t>
            </a:r>
            <a:endParaRPr lang="en-US" sz="11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8B6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关系，不直接决定像素路径。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73552" y="2990088"/>
            <a:ext cx="201168" cy="0"/>
          </a:xfrm>
          <a:prstGeom prst="line">
            <a:avLst/>
          </a:prstGeom>
          <a:noFill/>
          <a:ln w="17780">
            <a:solidFill>
              <a:srgbClr val="2A3B55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474720" y="1828800"/>
            <a:ext cx="2587752" cy="2331720"/>
          </a:xfrm>
          <a:prstGeom prst="roundRect">
            <a:avLst>
              <a:gd name="adj" fmla="val 2745"/>
            </a:avLst>
          </a:prstGeom>
          <a:solidFill>
            <a:srgbClr val="FFFFFF">
              <a:alpha val="5000"/>
            </a:srgbClr>
          </a:solidFill>
          <a:ln w="13970">
            <a:solidFill>
              <a:srgbClr val="22D3EE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0" y="201168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语义编译器校验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0" y="2743200"/>
            <a:ext cx="2240280" cy="460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8B6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JSON Schema、图例、端口、介</a:t>
            </a:r>
            <a:endParaRPr lang="en-US" sz="11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8B6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质、流向逐项验证，错误即拒绝。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62472" y="2990088"/>
            <a:ext cx="201168" cy="0"/>
          </a:xfrm>
          <a:prstGeom prst="line">
            <a:avLst/>
          </a:prstGeom>
          <a:noFill/>
          <a:ln w="17780">
            <a:solidFill>
              <a:srgbClr val="2A3B55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263640" y="1828800"/>
            <a:ext cx="2587752" cy="2331720"/>
          </a:xfrm>
          <a:prstGeom prst="roundRect">
            <a:avLst>
              <a:gd name="adj" fmla="val 2745"/>
            </a:avLst>
          </a:prstGeom>
          <a:solidFill>
            <a:srgbClr val="FFFFFF">
              <a:alpha val="5000"/>
            </a:srgbClr>
          </a:solidFill>
          <a:ln w="13970">
            <a:solidFill>
              <a:srgbClr val="34D399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46520" y="201168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确定性路由器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46520" y="2743200"/>
            <a:ext cx="2240280" cy="460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8B6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按端口外法线走最短正交路径，自</a:t>
            </a:r>
            <a:endParaRPr lang="en-US" sz="11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8B6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动避障，相交管线画跨线桥。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851392" y="2990088"/>
            <a:ext cx="201168" cy="0"/>
          </a:xfrm>
          <a:prstGeom prst="line">
            <a:avLst/>
          </a:prstGeom>
          <a:noFill/>
          <a:ln w="17780">
            <a:solidFill>
              <a:srgbClr val="2A3B55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052560" y="1828800"/>
            <a:ext cx="2587752" cy="2331720"/>
          </a:xfrm>
          <a:prstGeom prst="roundRect">
            <a:avLst>
              <a:gd name="adj" fmla="val 2745"/>
            </a:avLst>
          </a:prstGeom>
          <a:solidFill>
            <a:srgbClr val="FFFFFF">
              <a:alpha val="5000"/>
            </a:srgbClr>
          </a:solidFill>
          <a:ln w="13970">
            <a:solidFill>
              <a:srgbClr val="FBBF24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235440" y="201168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质量门禁 ≥95 分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235440" y="2743200"/>
            <a:ext cx="2240280" cy="6446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8B6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正交性、重叠、穿设备、重复标签</a:t>
            </a:r>
            <a:endParaRPr lang="en-US" sz="11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8B6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逐项打分；不合格带 issue cod</a:t>
            </a:r>
            <a:endParaRPr lang="en-US" sz="11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8B6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 回炉重规划。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85800" y="4526280"/>
            <a:ext cx="10817352" cy="1051560"/>
          </a:xfrm>
          <a:prstGeom prst="roundRect">
            <a:avLst>
              <a:gd name="adj" fmla="val 6087"/>
            </a:avLst>
          </a:prstGeom>
          <a:solidFill>
            <a:srgbClr val="22D3EE">
              <a:alpha val="8000"/>
            </a:srgbClr>
          </a:solidFill>
          <a:ln w="15240">
            <a:solidFill>
              <a:srgbClr val="22D3EE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60120" y="468172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原子事务落库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960120" y="502920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全部操作一次成功、或完全不写入 · revision 乐观并发，AI 盖不掉人工修改 · 全程可撤销、可重做、可追踪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85800" y="5852160"/>
            <a:ext cx="108173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678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同一计划 → 同一张图（确定性）；错误计划 → 干净的拒绝 + 稳定错误码（可修复）。模型只被允许“出错”，不被允许“写坏”。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85800" y="6528816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8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P&amp;ID-Agent · 人机协同智能工艺流程图设计平台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9448495" y="6528816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8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青创大赛路演 · 2026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1140135" y="651052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· 凭什么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85800" y="658368"/>
            <a:ext cx="384048" cy="4114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749808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可靠性不是口号：可复现的模型验收矩阵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85800" y="1664208"/>
            <a:ext cx="10820095" cy="0"/>
          </a:xfrm>
          <a:prstGeom prst="line">
            <a:avLst/>
          </a:prstGeom>
          <a:noFill/>
          <a:ln w="9525">
            <a:solidFill>
              <a:srgbClr val="1E2C4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828800"/>
            <a:ext cx="6766560" cy="457200"/>
          </a:xfrm>
          <a:prstGeom prst="roundRect">
            <a:avLst>
              <a:gd name="adj" fmla="val 14000"/>
            </a:avLst>
          </a:prstGeom>
          <a:solidFill>
            <a:srgbClr val="22D3EE">
              <a:alpha val="12000"/>
            </a:srgbClr>
          </a:solidFill>
          <a:ln w="9525">
            <a:solidFill>
              <a:srgbClr val="2A3B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90195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794760" y="1901952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场景 × 3 次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897880" y="190195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" y="2286000"/>
            <a:ext cx="6766560" cy="585216"/>
          </a:xfrm>
          <a:prstGeom prst="roundRect">
            <a:avLst>
              <a:gd name="adj" fmla="val 10938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2A3B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414016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DeepSeek-V4-Flash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794760" y="2414016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B6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/ 15 · 100%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897880" y="2414016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验收通过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5800" y="2944368"/>
            <a:ext cx="6766560" cy="585216"/>
          </a:xfrm>
          <a:prstGeom prst="roundRect">
            <a:avLst>
              <a:gd name="adj" fmla="val 10938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2A3B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07238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Qwen3.6-35B（本地 Ollama）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794760" y="3072384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B6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/ 15 · 100%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897880" y="3072384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验收通过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85800" y="3602736"/>
            <a:ext cx="6766560" cy="585216"/>
          </a:xfrm>
          <a:prstGeom prst="roundRect">
            <a:avLst>
              <a:gd name="adj" fmla="val 10938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2A3B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373075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Agnes-2.0-Flash（第三方）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794760" y="373075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B6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/ 15 · 78.6%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897880" y="373075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71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判为不可用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5800" y="4370832"/>
            <a:ext cx="6766560" cy="2674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678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方法：拓扑断言 + 图面质量双验收；不达标的模型被系统明确拒收——我们不宣称“什么模型都能画”。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726680" y="1828800"/>
            <a:ext cx="3776472" cy="3127248"/>
          </a:xfrm>
          <a:prstGeom prst="roundRect">
            <a:avLst>
              <a:gd name="adj" fmla="val 2047"/>
            </a:avLst>
          </a:prstGeom>
          <a:solidFill>
            <a:srgbClr val="FFFFFF">
              <a:alpha val="5000"/>
            </a:srgbClr>
          </a:solidFill>
          <a:ln w="15240">
            <a:solidFill>
              <a:srgbClr val="22D3EE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973568" y="20116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 AI 画错了？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973568" y="2468880"/>
            <a:ext cx="33375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▪"/>
            </a:pPr>
            <a:r>
              <a:rPr lang="en-US" sz="1150" dirty="0">
                <a:solidFill>
                  <a:srgbClr val="C9D4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它没有机会“画错”：任何修改必须通过 Schema 与语义校验才允许写入</a:t>
            </a:r>
            <a:endParaRPr lang="en-US" sz="1150" dirty="0"/>
          </a:p>
          <a:p>
            <a:pPr marL="177800" indent="-177800">
              <a:buSzPct val="100000"/>
              <a:buChar char="▪"/>
            </a:pPr>
            <a:r>
              <a:rPr lang="en-US" sz="1150" dirty="0">
                <a:solidFill>
                  <a:srgbClr val="C9D4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事务原子性：失败不会留下半张图</a:t>
            </a:r>
            <a:endParaRPr lang="en-US" sz="1150" dirty="0"/>
          </a:p>
          <a:p>
            <a:pPr marL="177800" indent="-177800">
              <a:buSzPct val="100000"/>
              <a:buChar char="▪"/>
            </a:pPr>
            <a:r>
              <a:rPr lang="en-US" sz="1150" dirty="0">
                <a:solidFill>
                  <a:srgbClr val="C9D4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稳定 issue code 反馈模型自动重规划（≤3 轮）</a:t>
            </a:r>
            <a:endParaRPr lang="en-US" sz="1150" dirty="0"/>
          </a:p>
          <a:p>
            <a:pPr marL="177800" indent="-177800">
              <a:buSzPct val="100000"/>
              <a:buChar char="▪"/>
            </a:pPr>
            <a:r>
              <a:rPr lang="en-US" sz="1150" dirty="0">
                <a:solidFill>
                  <a:srgbClr val="C9D4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271 项后端测试 + 92 项前端测试 + 37 项浏览器验收 + CI 全绿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726680" y="5138928"/>
            <a:ext cx="3776472" cy="731520"/>
          </a:xfrm>
          <a:prstGeom prst="roundRect">
            <a:avLst>
              <a:gd name="adj" fmla="val 875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2A3B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955280" y="5358384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公开仓库可复现：pid-agent model-matrix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85800" y="6528816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8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P&amp;ID-Agent · 人机协同智能工艺流程图设计平台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9448495" y="6528816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8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青创大赛路演 · 2026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1140135" y="651052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· 做什么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85800" y="658368"/>
            <a:ext cx="384048" cy="4114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749808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三种工作方式，覆盖从草图到交付全流程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85800" y="1664208"/>
            <a:ext cx="10820095" cy="0"/>
          </a:xfrm>
          <a:prstGeom prst="line">
            <a:avLst/>
          </a:prstGeom>
          <a:noFill/>
          <a:ln w="9525">
            <a:solidFill>
              <a:srgbClr val="1E2C4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828800"/>
            <a:ext cx="3502152" cy="2286000"/>
          </a:xfrm>
          <a:prstGeom prst="roundRect">
            <a:avLst>
              <a:gd name="adj" fmla="val 2800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2A3B55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41832" y="2057400"/>
            <a:ext cx="548640" cy="548640"/>
          </a:xfrm>
          <a:prstGeom prst="ellipse">
            <a:avLst/>
          </a:prstGeom>
          <a:solidFill>
            <a:srgbClr val="3B82F6">
              <a:alpha val="18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2130552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600200" y="213055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人工自由绘图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941832" y="2697480"/>
            <a:ext cx="301752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8B6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拖放设备、连接管线、标注位号；设计习惯</a:t>
            </a:r>
            <a:endParaRPr lang="en-US" sz="12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8B6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完全不变，几分钟上手。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416552" y="1828800"/>
            <a:ext cx="3502152" cy="2286000"/>
          </a:xfrm>
          <a:prstGeom prst="roundRect">
            <a:avLst>
              <a:gd name="adj" fmla="val 2800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2A3B55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72584" y="2057400"/>
            <a:ext cx="548640" cy="548640"/>
          </a:xfrm>
          <a:prstGeom prst="ellipse">
            <a:avLst/>
          </a:prstGeom>
          <a:solidFill>
            <a:srgbClr val="22D3EE">
              <a:alpha val="18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72584" y="2130552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330952" y="213055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语义生成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4672584" y="2697480"/>
            <a:ext cx="301752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8B6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输入一段系统描述，AI 自动布置设备、连</a:t>
            </a:r>
            <a:endParaRPr lang="en-US" sz="12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8B6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接管线、标注位号，一次成图。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47304" y="1828800"/>
            <a:ext cx="3502152" cy="2286000"/>
          </a:xfrm>
          <a:prstGeom prst="roundRect">
            <a:avLst>
              <a:gd name="adj" fmla="val 2800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2A3B55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403336" y="2057400"/>
            <a:ext cx="548640" cy="548640"/>
          </a:xfrm>
          <a:prstGeom prst="ellipse">
            <a:avLst/>
          </a:prstGeom>
          <a:solidFill>
            <a:srgbClr val="34D399">
              <a:alpha val="18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03336" y="2130552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4D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061704" y="213055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人机协同修改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8403336" y="2697480"/>
            <a:ext cx="301752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8B6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出草图、人来调整；人画草图、AI 补</a:t>
            </a:r>
            <a:endParaRPr lang="en-US" sz="12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8B6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全优化。先预览、后应用。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240280" y="4407408"/>
            <a:ext cx="7680960" cy="173736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12700">
            <a:solidFill>
              <a:srgbClr val="2C3E5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pic>
        <p:nvPicPr>
          <p:cNvPr id="22" name="Image 0" descr="assets/agent-ghost-pre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56048" y="4526280"/>
            <a:ext cx="2249424" cy="1499616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2240280" y="6217920"/>
            <a:ext cx="7680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6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修改先以“幽灵预览”展示，工程师确认后才写入——人始终是最终拍板人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685800" y="6528816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8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P&amp;ID-Agent · 人机协同智能工艺流程图设计平台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9448495" y="6528816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8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青创大赛路演 · 2026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11140135" y="651052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· 凭什么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85800" y="658368"/>
            <a:ext cx="384048" cy="4114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749808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一条事务总线，四个接入面，一个真相源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85800" y="1664208"/>
            <a:ext cx="10820095" cy="0"/>
          </a:xfrm>
          <a:prstGeom prst="line">
            <a:avLst/>
          </a:prstGeom>
          <a:noFill/>
          <a:ln w="9525">
            <a:solidFill>
              <a:srgbClr val="1E2C4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828800"/>
            <a:ext cx="1810512" cy="502920"/>
          </a:xfrm>
          <a:prstGeom prst="roundRect">
            <a:avLst>
              <a:gd name="adj" fmla="val 14545"/>
            </a:avLst>
          </a:prstGeom>
          <a:solidFill>
            <a:srgbClr val="3B82F6">
              <a:alpha val="2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0664" y="1938528"/>
            <a:ext cx="17007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React 浏览器编辑器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496312" y="2075688"/>
            <a:ext cx="201168" cy="0"/>
          </a:xfrm>
          <a:prstGeom prst="line">
            <a:avLst/>
          </a:prstGeom>
          <a:noFill/>
          <a:ln w="17780">
            <a:solidFill>
              <a:srgbClr val="2A3B55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697480" y="1828800"/>
            <a:ext cx="1810512" cy="502920"/>
          </a:xfrm>
          <a:prstGeom prst="roundRect">
            <a:avLst>
              <a:gd name="adj" fmla="val 14545"/>
            </a:avLst>
          </a:prstGeom>
          <a:solidFill>
            <a:srgbClr val="3B82F6">
              <a:alpha val="2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52344" y="1938528"/>
            <a:ext cx="17007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REST API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07992" y="2075688"/>
            <a:ext cx="201168" cy="0"/>
          </a:xfrm>
          <a:prstGeom prst="line">
            <a:avLst/>
          </a:prstGeom>
          <a:noFill/>
          <a:ln w="17780">
            <a:solidFill>
              <a:srgbClr val="2A3B55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709160" y="1828800"/>
            <a:ext cx="1810512" cy="502920"/>
          </a:xfrm>
          <a:prstGeom prst="roundRect">
            <a:avLst>
              <a:gd name="adj" fmla="val 14545"/>
            </a:avLst>
          </a:prstGeom>
          <a:solidFill>
            <a:srgbClr val="3B82F6">
              <a:alpha val="2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64024" y="1938528"/>
            <a:ext cx="17007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 Client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519672" y="2075688"/>
            <a:ext cx="201168" cy="0"/>
          </a:xfrm>
          <a:prstGeom prst="line">
            <a:avLst/>
          </a:prstGeom>
          <a:noFill/>
          <a:ln w="17780">
            <a:solidFill>
              <a:srgbClr val="2A3B55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720840" y="1828800"/>
            <a:ext cx="1810512" cy="502920"/>
          </a:xfrm>
          <a:prstGeom prst="roundRect">
            <a:avLst>
              <a:gd name="adj" fmla="val 14545"/>
            </a:avLst>
          </a:prstGeom>
          <a:solidFill>
            <a:srgbClr val="3B82F6">
              <a:alpha val="2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75704" y="1938528"/>
            <a:ext cx="17007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 Server（stdin）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85800" y="2606040"/>
            <a:ext cx="8019288" cy="548640"/>
          </a:xfrm>
          <a:prstGeom prst="roundRect">
            <a:avLst>
              <a:gd name="adj" fmla="val 13333"/>
            </a:avLst>
          </a:prstGeom>
          <a:solidFill>
            <a:srgbClr val="22D3EE">
              <a:alpha val="15000"/>
            </a:srgbClr>
          </a:solidFill>
          <a:ln w="15240">
            <a:solidFill>
              <a:srgbClr val="22D3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2715768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DE9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TransactionRequest · 原子事务总线 —— 人工与 AI 走同一个入口，谁也不能绕过验证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052560" y="1828800"/>
            <a:ext cx="2450592" cy="1325880"/>
          </a:xfrm>
          <a:prstGeom prst="roundRect">
            <a:avLst>
              <a:gd name="adj" fmla="val 5517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2A3B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35440" y="19659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规划器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235440" y="233172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B6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只生成结构化事务\n不接触数据库、不执行代码\nOpenAI / Ollama / LM Studio / Kimi Code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714232" y="2880360"/>
            <a:ext cx="338328" cy="0"/>
          </a:xfrm>
          <a:prstGeom prst="line">
            <a:avLst/>
          </a:prstGeom>
          <a:noFill/>
          <a:ln w="17780">
            <a:solidFill>
              <a:srgbClr val="2A3B5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5800" y="3429000"/>
            <a:ext cx="8019288" cy="502920"/>
          </a:xfrm>
          <a:prstGeom prst="roundRect">
            <a:avLst>
              <a:gd name="adj" fmla="val 14545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2A3B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3538728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4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FastAPI 服务层 · 参数转换 · 身份与安全边界 · 请求限流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85800" y="4206240"/>
            <a:ext cx="8019288" cy="914400"/>
          </a:xfrm>
          <a:prstGeom prst="roundRect">
            <a:avLst>
              <a:gd name="adj" fmla="val 8000"/>
            </a:avLst>
          </a:prstGeom>
          <a:solidFill>
            <a:srgbClr val="FFFFFF">
              <a:alpha val="8000"/>
            </a:srgbClr>
          </a:solidFill>
          <a:ln w="15240">
            <a:solidFill>
              <a:srgbClr val="22D3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4334256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DocumentService · 单一文档真相源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868680" y="4681728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6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原子事务 · revision 乐观并发 · 撤销/重做 · 拓扑与场景摘要 · 质量门禁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85800" y="5303520"/>
            <a:ext cx="3931920" cy="658368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2A3B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0392" y="539496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SQLiteDocumentStore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850392" y="565099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78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 / 图层 / 图元 / 管线\n快照历史 · 备份恢复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846320" y="5303520"/>
            <a:ext cx="3931920" cy="658368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2A3B5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10912" y="539496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SymbolRegistry 单位图例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010912" y="565099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78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符号 + 端口 + 介质\n企业图例可覆盖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85800" y="6172200"/>
            <a:ext cx="4644581" cy="292608"/>
          </a:xfrm>
          <a:prstGeom prst="roundRect">
            <a:avLst>
              <a:gd name="adj" fmla="val 50000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2A3B5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58952" y="6213348"/>
            <a:ext cx="4498277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8B6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 3.11+ · FastAPI · Pydantic · SQLite · CairoSVG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558981" y="6172200"/>
            <a:ext cx="3900488" cy="292608"/>
          </a:xfrm>
          <a:prstGeom prst="roundRect">
            <a:avLst>
              <a:gd name="adj" fmla="val 50000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2A3B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32133" y="6213348"/>
            <a:ext cx="3754184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8B6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React 19 · TypeScript · Vite · Zustand · SVG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9688068" y="6172200"/>
            <a:ext cx="2681668" cy="292608"/>
          </a:xfrm>
          <a:prstGeom prst="roundRect">
            <a:avLst>
              <a:gd name="adj" fmla="val 50000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2A3B5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761220" y="6213348"/>
            <a:ext cx="2535364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8B6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导出 JSON/SVG/PNG/PDF/DXF/CSV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85800" y="6528816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8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P&amp;ID-Agent · 人机协同智能工艺流程图设计平台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9448495" y="6528816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8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青创大赛路演 · 2026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11140135" y="651052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· 凭什么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85800" y="658368"/>
            <a:ext cx="384048" cy="4114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749808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单位图例库：人与 AI 共用的同一套工程语言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85800" y="1664208"/>
            <a:ext cx="10820095" cy="0"/>
          </a:xfrm>
          <a:prstGeom prst="line">
            <a:avLst/>
          </a:prstGeom>
          <a:noFill/>
          <a:ln w="9525">
            <a:solidFill>
              <a:srgbClr val="1E2C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874520"/>
            <a:ext cx="49377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▪"/>
            </a:pPr>
            <a:r>
              <a:rPr lang="en-US" sz="1200" dirty="0">
                <a:solidFill>
                  <a:srgbClr val="C9D4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55+ 标准符号 · 12 大分类：泵 / 风机 / 换热 / 容器 / 过滤 /</a:t>
            </a:r>
            <a:endParaRPr lang="en-US" sz="1200" dirty="0"/>
          </a:p>
          <a:p>
            <a:pPr marL="177800" indent="-177800">
              <a:buSzPct val="100000"/>
              <a:buChar char="▪"/>
            </a:pPr>
            <a:r>
              <a:rPr lang="en-US" sz="1200" dirty="0">
                <a:solidFill>
                  <a:srgbClr val="C9D4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阀门 / 安全附件 / 管件 / 仪表…</a:t>
            </a:r>
            <a:endParaRPr lang="en-US" sz="1200" dirty="0"/>
          </a:p>
          <a:p>
            <a:pPr marL="177800" indent="-177800">
              <a:buSzPct val="100000"/>
              <a:buChar char="▪"/>
            </a:pPr>
            <a:r>
              <a:rPr lang="en-US" sz="1200" dirty="0">
                <a:solidFill>
                  <a:srgbClr val="C9D4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声明式 JSON：符号 key、端口、介质、位号规则、使用约束全</a:t>
            </a:r>
            <a:endParaRPr lang="en-US" sz="1200" dirty="0"/>
          </a:p>
          <a:p>
            <a:pPr marL="177800" indent="-177800">
              <a:buSzPct val="100000"/>
              <a:buChar char="▪"/>
            </a:pPr>
            <a:r>
              <a:rPr lang="en-US" sz="1200" dirty="0">
                <a:solidFill>
                  <a:srgbClr val="C9D4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部内建，人和 AI 读同一份定义</a:t>
            </a:r>
            <a:endParaRPr lang="en-US" sz="1200" dirty="0"/>
          </a:p>
          <a:p>
            <a:pPr marL="177800" indent="-177800">
              <a:buSzPct val="100000"/>
              <a:buChar char="▪"/>
            </a:pPr>
            <a:r>
              <a:rPr lang="en-US" sz="1200" dirty="0">
                <a:solidFill>
                  <a:srgbClr val="C9D4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 GB/T 国标阀门符号（闸阀、截止阀、止回阀、调节阀、蝶</a:t>
            </a:r>
            <a:endParaRPr lang="en-US" sz="1200" dirty="0"/>
          </a:p>
          <a:p>
            <a:pPr marL="177800" indent="-177800">
              <a:buSzPct val="100000"/>
              <a:buChar char="▪"/>
            </a:pPr>
            <a:r>
              <a:rPr lang="en-US" sz="1200" dirty="0">
                <a:solidFill>
                  <a:srgbClr val="C9D4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阀…），不拿通用球阀糊弄</a:t>
            </a:r>
            <a:endParaRPr lang="en-US" sz="1200" dirty="0"/>
          </a:p>
          <a:p>
            <a:pPr marL="177800" indent="-177800">
              <a:buSzPct val="100000"/>
              <a:buChar char="▪"/>
            </a:pPr>
            <a:r>
              <a:rPr lang="en-US" sz="1200" dirty="0">
                <a:solidFill>
                  <a:srgbClr val="C9D4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图例一致性离线校验：坏图例进不了库；企业图例可覆盖、可版本</a:t>
            </a:r>
            <a:endParaRPr lang="en-US" sz="1200" dirty="0"/>
          </a:p>
          <a:p>
            <a:pPr marL="177800" indent="-177800">
              <a:buSzPct val="100000"/>
              <a:buChar char="▪"/>
            </a:pPr>
            <a:r>
              <a:rPr lang="en-US" sz="1200" dirty="0">
                <a:solidFill>
                  <a:srgbClr val="C9D4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化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5806440"/>
            <a:ext cx="4937760" cy="502920"/>
          </a:xfrm>
          <a:prstGeom prst="roundRect">
            <a:avLst>
              <a:gd name="adj" fmla="val 12727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2A3B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590702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pid-agent quality-harness · 图例完整性 / 拓扑事务 / 质量门禁 四层离线验收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943600" y="1828800"/>
            <a:ext cx="4663440" cy="2377440"/>
          </a:xfrm>
          <a:prstGeom prst="roundRect">
            <a:avLst>
              <a:gd name="adj" fmla="val 2692"/>
            </a:avLst>
          </a:prstGeom>
          <a:solidFill>
            <a:srgbClr val="FFFFFF"/>
          </a:solidFill>
          <a:ln w="12700">
            <a:solidFill>
              <a:srgbClr val="2C3E5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pic>
        <p:nvPicPr>
          <p:cNvPr id="10" name="Image 0" descr="assets/valves_gb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63778" y="1947672"/>
            <a:ext cx="4223084" cy="213969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943600" y="4279392"/>
            <a:ext cx="4480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6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内置图例库 · GB/T 阀门符号（部分）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10835640" y="1828800"/>
            <a:ext cx="685800" cy="237744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2C3E5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pic>
        <p:nvPicPr>
          <p:cNvPr id="13" name="Image 1" descr="assets/valves_gbt_vs_stand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4512" y="2469896"/>
            <a:ext cx="448056" cy="10952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561320" y="4233672"/>
            <a:ext cx="1234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78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国标 vs 内置对照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5943600" y="4526280"/>
            <a:ext cx="5577840" cy="1188720"/>
          </a:xfrm>
          <a:prstGeom prst="roundRect">
            <a:avLst>
              <a:gd name="adj" fmla="val 5385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2A3B55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172200" y="46634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为什么这构成壁垒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6172200" y="4983480"/>
            <a:ext cx="5120640" cy="460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8B6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符号库是“共同语言”：换一家单位，换一份图例即可，编辑器内核与 Agent 能</a:t>
            </a:r>
            <a:endParaRPr lang="en-US" sz="11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8B6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力不变——行业经验沉淀成可复用资产。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685800" y="6528816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8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P&amp;ID-Agent · 人机协同智能工艺流程图设计平台</a:t>
            </a:r>
            <a:endParaRPr lang="en-US" sz="850" dirty="0"/>
          </a:p>
        </p:txBody>
      </p:sp>
      <p:sp>
        <p:nvSpPr>
          <p:cNvPr id="19" name="Text 15"/>
          <p:cNvSpPr/>
          <p:nvPr/>
        </p:nvSpPr>
        <p:spPr>
          <a:xfrm>
            <a:off x="9448495" y="6528816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8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青创大赛路演 · 2026</a:t>
            </a:r>
            <a:endParaRPr lang="en-US" sz="850" dirty="0"/>
          </a:p>
        </p:txBody>
      </p:sp>
      <p:sp>
        <p:nvSpPr>
          <p:cNvPr id="20" name="Text 16"/>
          <p:cNvSpPr/>
          <p:nvPr/>
        </p:nvSpPr>
        <p:spPr>
          <a:xfrm>
            <a:off x="11140135" y="651052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· 卖给谁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85800" y="658368"/>
            <a:ext cx="384048" cy="4114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749808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数万设计人员 · 数亿元市场 · 三层真实客户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85800" y="1664208"/>
            <a:ext cx="10820095" cy="0"/>
          </a:xfrm>
          <a:prstGeom prst="line">
            <a:avLst/>
          </a:prstGeom>
          <a:noFill/>
          <a:ln w="9525">
            <a:solidFill>
              <a:srgbClr val="1E2C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828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目标客户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2240280"/>
            <a:ext cx="5120640" cy="841248"/>
          </a:xfrm>
          <a:prstGeom prst="roundRect">
            <a:avLst>
              <a:gd name="adj" fmla="val 7609"/>
            </a:avLst>
          </a:prstGeom>
          <a:solidFill>
            <a:srgbClr val="FFFFFF">
              <a:alpha val="5000"/>
            </a:srgbClr>
          </a:solidFill>
          <a:ln w="15240">
            <a:solidFill>
              <a:srgbClr val="22D3EE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2386584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344168" y="2359152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核电 · 国防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344168" y="2697480"/>
            <a:ext cx="4251960" cy="4434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A8B6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自主可控刚性要求，国产开源工具拥有天然信任优势——进口竞品无法逾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A8B6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越的定位壁垒。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45820" y="3200400"/>
            <a:ext cx="4800600" cy="841248"/>
          </a:xfrm>
          <a:prstGeom prst="roundRect">
            <a:avLst>
              <a:gd name="adj" fmla="val 7609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2A3B55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28700" y="3346704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678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504188" y="3319272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大型设计院 · 基层科室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504188" y="3657600"/>
            <a:ext cx="3931920" cy="2674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A8B6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需要高效的系统流程设计与图纸编辑，追求快速上手与团队协同。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005840" y="4160520"/>
            <a:ext cx="4480560" cy="841248"/>
          </a:xfrm>
          <a:prstGeom prst="roundRect">
            <a:avLst>
              <a:gd name="adj" fmla="val 7609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2A3B55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188720" y="4306824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678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664208" y="4279392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中小型工程公司 / 设计院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664208" y="4617720"/>
            <a:ext cx="3611880" cy="2674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A8B6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成本敏感，轻量、浏览器即用、免费基础版是真实刚需。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85800" y="5257800"/>
            <a:ext cx="5120640" cy="868680"/>
          </a:xfrm>
          <a:prstGeom prst="roundRect">
            <a:avLst>
              <a:gd name="adj" fmla="val 7368"/>
            </a:avLst>
          </a:prstGeom>
          <a:solidFill>
            <a:srgbClr val="22D3EE">
              <a:alpha val="7000"/>
            </a:srgbClr>
          </a:solidFill>
          <a:ln w="9525">
            <a:solidFill>
              <a:srgbClr val="155E75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14400" y="53949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市场规模（保守估计）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914400" y="56692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 P&amp;ID 相关设计人员数万人 · 市场空间可达数亿元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263640" y="1828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竞争格局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263640" y="2240280"/>
            <a:ext cx="5239512" cy="841248"/>
          </a:xfrm>
          <a:prstGeom prst="roundRect">
            <a:avLst>
              <a:gd name="adj" fmla="val 7609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2A3B55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492240" y="2350008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通用 CAD（AutoCAD / 中望）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492240" y="2697480"/>
            <a:ext cx="4800600" cy="2674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A8B6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大而全，但体量大、价格不低，P&amp;ID 只是众多功能之一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263640" y="3200400"/>
            <a:ext cx="5239512" cy="841248"/>
          </a:xfrm>
          <a:prstGeom prst="roundRect">
            <a:avLst>
              <a:gd name="adj" fmla="val 7609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2A3B55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492240" y="3310128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 P&amp;ID（SmartPlant 等）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492240" y="3657600"/>
            <a:ext cx="4800600" cy="2674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A8B6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功能专业，但价格高、部署重、需专门学习，没有 AI 嵌入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263640" y="4160520"/>
            <a:ext cx="5239512" cy="841248"/>
          </a:xfrm>
          <a:prstGeom prst="roundRect">
            <a:avLst>
              <a:gd name="adj" fmla="val 7609"/>
            </a:avLst>
          </a:prstGeom>
          <a:solidFill>
            <a:srgbClr val="22D3EE">
              <a:alpha val="10000"/>
            </a:srgbClr>
          </a:solidFill>
          <a:ln w="15240">
            <a:solidFill>
              <a:srgbClr val="22D3EE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492240" y="4270248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DE9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P&amp;ID-Agent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492240" y="4617720"/>
            <a:ext cx="4800600" cy="2674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C9D4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只做 P&amp;ID · 轻 · 快 · AI 原生 · 开源国产 · 自主可控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263640" y="5257800"/>
            <a:ext cx="5239512" cy="868680"/>
          </a:xfrm>
          <a:prstGeom prst="roundRect">
            <a:avLst>
              <a:gd name="adj" fmla="val 7368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2A3B55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492240" y="53949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BB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差异化切入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492240" y="5669280"/>
            <a:ext cx="4800600" cy="4770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从架构第一天就为 AI 设计，不是事后打补丁——这个起点差异会随时间拉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大。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85800" y="6528816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8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P&amp;ID-Agent · 人机协同智能工艺流程图设计平台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448495" y="6528816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8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青创大赛路演 · 2026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1140135" y="651052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· 卖给谁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85800" y="658368"/>
            <a:ext cx="384048" cy="4114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749808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三步走：开源攒口碑 → 企业版上量 → SaaS 并行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85800" y="1664208"/>
            <a:ext cx="10820095" cy="0"/>
          </a:xfrm>
          <a:prstGeom prst="line">
            <a:avLst/>
          </a:prstGeom>
          <a:noFill/>
          <a:ln w="9525">
            <a:solidFill>
              <a:srgbClr val="1E2C4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828800"/>
            <a:ext cx="3502152" cy="1737360"/>
          </a:xfrm>
          <a:prstGeom prst="roundRect">
            <a:avLst>
              <a:gd name="adj" fmla="val 3684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2A3B55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199339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基础版 · 免费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926080" y="201168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6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MIT 开源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2395728"/>
            <a:ext cx="3044952" cy="460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8B6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编辑器、AI 接入、标准导出全部免费——先攒</a:t>
            </a:r>
            <a:endParaRPr lang="en-US" sz="1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8B6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用户与口碑，让社区把产品滚起来。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16552" y="1828800"/>
            <a:ext cx="3502152" cy="1737360"/>
          </a:xfrm>
          <a:prstGeom prst="roundRect">
            <a:avLst>
              <a:gd name="adj" fmla="val 3684"/>
            </a:avLst>
          </a:prstGeom>
          <a:solidFill>
            <a:srgbClr val="FFFFFF">
              <a:alpha val="5000"/>
            </a:srgbClr>
          </a:solidFill>
          <a:ln w="15240">
            <a:solidFill>
              <a:srgbClr val="22D3EE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45152" y="199339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企业版 · 年订阅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656832" y="201168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5–30 万元 / 年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645152" y="2395728"/>
            <a:ext cx="3044952" cy="460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8B6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私有化部署、SSO、审批流、知识库对接、单位</a:t>
            </a:r>
            <a:endParaRPr lang="en-US" sz="1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8B6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符号库定制与技术支持。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47304" y="1828800"/>
            <a:ext cx="3502152" cy="1737360"/>
          </a:xfrm>
          <a:prstGeom prst="roundRect">
            <a:avLst>
              <a:gd name="adj" fmla="val 3684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2A3B55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375904" y="199339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SaaS 云 · 月付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387584" y="201168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6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面向中小团队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375904" y="2395728"/>
            <a:ext cx="3044952" cy="460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8B6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托管式协同编辑与项目管理，按月付费，降低中</a:t>
            </a:r>
            <a:endParaRPr lang="en-US" sz="1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8B6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小团队使用门槛。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5800" y="37947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收入预期（万元 / 年）</a:t>
            </a:r>
            <a:endParaRPr lang="en-US" sz="130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685800" y="4160520"/>
          <a:ext cx="5577840" cy="2148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0" name="Text 17"/>
          <p:cNvSpPr/>
          <p:nvPr/>
        </p:nvSpPr>
        <p:spPr>
          <a:xfrm>
            <a:off x="6537960" y="4160520"/>
            <a:ext cx="4983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▪"/>
            </a:pPr>
            <a:r>
              <a:rPr lang="en-US" sz="1150" dirty="0">
                <a:solidFill>
                  <a:srgbClr val="C9D4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第一年社区优先，收入 0–20 万（企业定制零散收入）</a:t>
            </a:r>
            <a:endParaRPr lang="en-US" sz="1150" dirty="0"/>
          </a:p>
          <a:p>
            <a:pPr marL="177800" indent="-177800">
              <a:buSzPct val="100000"/>
              <a:buChar char="▪"/>
            </a:pPr>
            <a:r>
              <a:rPr lang="en-US" sz="1150" dirty="0">
                <a:solidFill>
                  <a:srgbClr val="C9D4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第二年企业版成熟上量，100–300 万</a:t>
            </a:r>
            <a:endParaRPr lang="en-US" sz="1150" dirty="0"/>
          </a:p>
          <a:p>
            <a:pPr marL="177800" indent="-177800">
              <a:buSzPct val="100000"/>
              <a:buChar char="▪"/>
            </a:pPr>
            <a:r>
              <a:rPr lang="en-US" sz="1150" dirty="0">
                <a:solidFill>
                  <a:srgbClr val="C9D4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第三年企业版 + SaaS 双线并行，500–1000 万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6537960" y="5715000"/>
            <a:ext cx="4965192" cy="594360"/>
          </a:xfrm>
          <a:prstGeom prst="roundRect">
            <a:avLst>
              <a:gd name="adj" fmla="val 10769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2A3B55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766560" y="5852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BB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企业版订阅价仅为商业软件的 1/5–1/10 · 浏览器架构，客户 IT 运维成本趋近于零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85800" y="6528816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8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P&amp;ID-Agent · 人机协同智能工艺流程图设计平台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9448495" y="6528816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8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青创大赛路演 · 2026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11140135" y="651052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· 卖给谁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85800" y="658368"/>
            <a:ext cx="384048" cy="4114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749808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五个壁垒，都是时间与行业背景换不来的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85800" y="1664208"/>
            <a:ext cx="10820095" cy="0"/>
          </a:xfrm>
          <a:prstGeom prst="line">
            <a:avLst/>
          </a:prstGeom>
          <a:noFill/>
          <a:ln w="9525">
            <a:solidFill>
              <a:srgbClr val="1E2C4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828800"/>
            <a:ext cx="3502152" cy="1874520"/>
          </a:xfrm>
          <a:prstGeom prst="roundRect">
            <a:avLst>
              <a:gd name="adj" fmla="val 3415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2A3B55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86968" y="2057400"/>
            <a:ext cx="54864" cy="4572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8" name="Text 6"/>
          <p:cNvSpPr/>
          <p:nvPr/>
        </p:nvSpPr>
        <p:spPr>
          <a:xfrm>
            <a:off x="1088136" y="2011680"/>
            <a:ext cx="2926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原生架构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088136" y="2450592"/>
            <a:ext cx="2880360" cy="4770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A8B6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先想清楚 AI 怎么用，再设计整个系统；不</a:t>
            </a: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A8B6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是传统 CAD 事后打补丁。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416552" y="1828800"/>
            <a:ext cx="3502152" cy="1874520"/>
          </a:xfrm>
          <a:prstGeom prst="roundRect">
            <a:avLst>
              <a:gd name="adj" fmla="val 3415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2A3B55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2057400"/>
            <a:ext cx="54864" cy="4572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4818888" y="2011680"/>
            <a:ext cx="2926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图纸语义化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818888" y="2450592"/>
            <a:ext cx="2880360" cy="4770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A8B6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设备、端口、管线、节点都有明确定义——</a:t>
            </a: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A8B6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读得懂、查得出问题、自动出报表。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47304" y="1828800"/>
            <a:ext cx="3502152" cy="1874520"/>
          </a:xfrm>
          <a:prstGeom prst="roundRect">
            <a:avLst>
              <a:gd name="adj" fmla="val 3415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2A3B55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48472" y="2057400"/>
            <a:ext cx="54864" cy="45720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6" name="Text 14"/>
          <p:cNvSpPr/>
          <p:nvPr/>
        </p:nvSpPr>
        <p:spPr>
          <a:xfrm>
            <a:off x="8549640" y="2011680"/>
            <a:ext cx="2926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原子事务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8549640" y="2450592"/>
            <a:ext cx="2880360" cy="4770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A8B6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任何修改先验证后写入，人工也好 AI 也好</a:t>
            </a: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A8B6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，都改不乱数据。工程图纸的底线。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85800" y="3913632"/>
            <a:ext cx="3502152" cy="1874520"/>
          </a:xfrm>
          <a:prstGeom prst="roundRect">
            <a:avLst>
              <a:gd name="adj" fmla="val 3415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2A3B55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86968" y="4142232"/>
            <a:ext cx="54864" cy="4572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0" name="Text 18"/>
          <p:cNvSpPr/>
          <p:nvPr/>
        </p:nvSpPr>
        <p:spPr>
          <a:xfrm>
            <a:off x="1088136" y="4096512"/>
            <a:ext cx="2926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成本优势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1088136" y="4535424"/>
            <a:ext cx="2880360" cy="4770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A8B6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基础版免费开源，企业版仅为商业软件 1/</a:t>
            </a: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A8B6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5–1/10；浏览器架构零运维。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416552" y="3913632"/>
            <a:ext cx="3502152" cy="1874520"/>
          </a:xfrm>
          <a:prstGeom prst="roundRect">
            <a:avLst>
              <a:gd name="adj" fmla="val 3415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2A3B55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17720" y="4142232"/>
            <a:ext cx="54864" cy="4572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4" name="Text 22"/>
          <p:cNvSpPr/>
          <p:nvPr/>
        </p:nvSpPr>
        <p:spPr>
          <a:xfrm>
            <a:off x="4818888" y="4096512"/>
            <a:ext cx="2926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核工业背景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4818888" y="4535424"/>
            <a:ext cx="2880360" cy="4770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A8B6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团队设计一线出身，每个功能都来自真实画</a:t>
            </a: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A8B6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图痛点，通用工具团队难以复制。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147304" y="3913632"/>
            <a:ext cx="3502152" cy="1874520"/>
          </a:xfrm>
          <a:prstGeom prst="roundRect">
            <a:avLst>
              <a:gd name="adj" fmla="val 3415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2A3B55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348472" y="4142232"/>
            <a:ext cx="54864" cy="45720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8" name="Text 26"/>
          <p:cNvSpPr/>
          <p:nvPr/>
        </p:nvSpPr>
        <p:spPr>
          <a:xfrm>
            <a:off x="8549640" y="4096512"/>
            <a:ext cx="2926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先发优势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8549640" y="4535424"/>
            <a:ext cx="2880360" cy="4770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A8B6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P&amp;ID 原生 AI 协同的开源工具，国内最早</a:t>
            </a: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A8B6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一批；开源社区就是流量入口。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85800" y="6528816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8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P&amp;ID-Agent · 人机协同智能工艺流程图设计平台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9448495" y="6528816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8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青创大赛路演 · 2026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1140135" y="651052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· 怎么走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85800" y="658368"/>
            <a:ext cx="384048" cy="4114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749808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 个月：从原型到 1.0 商业化发布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85800" y="1664208"/>
            <a:ext cx="10820095" cy="0"/>
          </a:xfrm>
          <a:prstGeom prst="line">
            <a:avLst/>
          </a:prstGeom>
          <a:noFill/>
          <a:ln w="9525">
            <a:solidFill>
              <a:srgbClr val="1E2C4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3246120"/>
            <a:ext cx="10332720" cy="0"/>
          </a:xfrm>
          <a:prstGeom prst="line">
            <a:avLst/>
          </a:prstGeom>
          <a:noFill/>
          <a:ln w="25400">
            <a:solidFill>
              <a:srgbClr val="2A3B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61872" y="3090672"/>
            <a:ext cx="310896" cy="310896"/>
          </a:xfrm>
          <a:prstGeom prst="ellipse">
            <a:avLst/>
          </a:prstGeom>
          <a:solidFill>
            <a:srgbClr val="22D3EE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61872" y="307238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2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" y="267919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0040" y="350215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原型与核心引擎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0040" y="3867912"/>
            <a:ext cx="2194560" cy="25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6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技术选型 · 文档模型 · 原型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39312" y="3090672"/>
            <a:ext cx="310896" cy="310896"/>
          </a:xfrm>
          <a:prstGeom prst="ellipse">
            <a:avLst/>
          </a:prstGeom>
          <a:solidFill>
            <a:srgbClr val="22D3EE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39312" y="307238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2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97480" y="267919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697480" y="350215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Alpha 发布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697480" y="3867912"/>
            <a:ext cx="2194560" cy="25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6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文档内核 · 持久化 · 编辑器基础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16752" y="3090672"/>
            <a:ext cx="310896" cy="310896"/>
          </a:xfrm>
          <a:prstGeom prst="ellipse">
            <a:avLst/>
          </a:prstGeom>
          <a:solidFill>
            <a:srgbClr val="22D3EE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16752" y="307238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2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74920" y="267919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74920" y="350215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Beta 发布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74920" y="3867912"/>
            <a:ext cx="2194560" cy="25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6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属性编辑 · 管线功能 · 图层显隐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394192" y="3090672"/>
            <a:ext cx="310896" cy="310896"/>
          </a:xfrm>
          <a:prstGeom prst="ellipse">
            <a:avLst/>
          </a:prstGeom>
          <a:solidFill>
            <a:srgbClr val="0B1220"/>
          </a:solidFill>
          <a:ln w="19050">
            <a:solidFill>
              <a:srgbClr val="3B5C8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52360" y="267919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678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452360" y="350215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RC 发布候选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452360" y="3867912"/>
            <a:ext cx="2194560" cy="426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6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自然语言局部修改 · 自动布局 ·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8B6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大图性能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0771632" y="3090672"/>
            <a:ext cx="310896" cy="310896"/>
          </a:xfrm>
          <a:prstGeom prst="ellipse">
            <a:avLst/>
          </a:prstGeom>
          <a:solidFill>
            <a:srgbClr val="0B1220"/>
          </a:solidFill>
          <a:ln w="19050">
            <a:solidFill>
              <a:srgbClr val="3B5C8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829800" y="267919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678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829800" y="350215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1.0 正式版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829800" y="3867912"/>
            <a:ext cx="2194560" cy="25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6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企业级功能 · 工程交付验收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85800" y="4663440"/>
            <a:ext cx="10817352" cy="777240"/>
          </a:xfrm>
          <a:prstGeom prst="roundRect">
            <a:avLst>
              <a:gd name="adj" fmla="val 8235"/>
            </a:avLst>
          </a:prstGeom>
          <a:solidFill>
            <a:srgbClr val="22D3EE">
              <a:alpha val="7000"/>
            </a:srgbClr>
          </a:solidFill>
          <a:ln w="9525">
            <a:solidFill>
              <a:srgbClr val="155E75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914400" y="4791456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当前进度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14400" y="507492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v2.1.0-alpha.1 已开源（MIT）· 原型 / Alpha / Beta 三个里程碑按期完成 · 质量门槛全部通过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85800" y="5806440"/>
            <a:ext cx="108173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BDE9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如获支持，12–18 个月内完成 1.0 正式版并启动商业化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685800" y="6528816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8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P&amp;ID-Agent · 人机协同智能工艺流程图设计平台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9448495" y="6528816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8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青创大赛路演 · 2026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1140135" y="651052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· 怎么走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85800" y="658368"/>
            <a:ext cx="384048" cy="4114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749808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轻资产起步，三重收益清晰可见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85800" y="1664208"/>
            <a:ext cx="10820095" cy="0"/>
          </a:xfrm>
          <a:prstGeom prst="line">
            <a:avLst/>
          </a:prstGeom>
          <a:noFill/>
          <a:ln w="9525">
            <a:solidFill>
              <a:srgbClr val="1E2C4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828800"/>
            <a:ext cx="3502152" cy="2651760"/>
          </a:xfrm>
          <a:prstGeom prst="roundRect">
            <a:avLst>
              <a:gd name="adj" fmla="val 2414"/>
            </a:avLst>
          </a:prstGeom>
          <a:solidFill>
            <a:srgbClr val="FFFFFF">
              <a:alpha val="5000"/>
            </a:srgbClr>
          </a:solidFill>
          <a:ln w="15240">
            <a:solidFill>
              <a:srgbClr val="22D3EE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205740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30–50%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914400" y="29260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设计出图效率提升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914400" y="3401568"/>
            <a:ext cx="3044952" cy="460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8B6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生成草图 + 自动规则检查 + 设备表/管线表</a:t>
            </a:r>
            <a:endParaRPr lang="en-US" sz="1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8B6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一键生成，工程师从重复劳动中解放。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16552" y="1828800"/>
            <a:ext cx="3502152" cy="2651760"/>
          </a:xfrm>
          <a:prstGeom prst="roundRect">
            <a:avLst>
              <a:gd name="adj" fmla="val 2414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2A3B55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45152" y="205740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1/5–1/10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4645152" y="29260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软件采购成本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645152" y="3401568"/>
            <a:ext cx="3044952" cy="6446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8B6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中型设计院 20 人用 AutoCAD 年费 10–30</a:t>
            </a:r>
            <a:endParaRPr lang="en-US" sz="1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8B6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万，专业 P&amp;ID 软件更高；企业版年费仅为零</a:t>
            </a:r>
            <a:endParaRPr lang="en-US" sz="1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8B6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头。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47304" y="1828800"/>
            <a:ext cx="3502152" cy="2651760"/>
          </a:xfrm>
          <a:prstGeom prst="roundRect">
            <a:avLst>
              <a:gd name="adj" fmla="val 2414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2A3B55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375904" y="205740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34D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8375904" y="29260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外部授权与资金链风险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8375904" y="3401568"/>
            <a:ext cx="3044952" cy="460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8B6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技术栈全开源、零授权费；轻资产模式，人力时</a:t>
            </a:r>
            <a:endParaRPr lang="en-US" sz="1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8B6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间成本为主，不存在资金链断裂风险。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5800" y="4754880"/>
            <a:ext cx="53949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▪"/>
            </a:pPr>
            <a:r>
              <a:rPr lang="en-US" sz="1200" dirty="0">
                <a:solidFill>
                  <a:srgbClr val="C9D4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效率收益：科室工艺设计出图效率提升 30–50%</a:t>
            </a:r>
            <a:endParaRPr lang="en-US" sz="1200" dirty="0"/>
          </a:p>
          <a:p>
            <a:pPr marL="177800" indent="-177800">
              <a:buSzPct val="100000"/>
              <a:buChar char="▪"/>
            </a:pPr>
            <a:r>
              <a:rPr lang="en-US" sz="1200" dirty="0">
                <a:solidFill>
                  <a:srgbClr val="C9D4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能力收益：沉淀数字化技术与 AI 应用能力</a:t>
            </a:r>
            <a:endParaRPr lang="en-US" sz="1200" dirty="0"/>
          </a:p>
          <a:p>
            <a:pPr marL="177800" indent="-177800">
              <a:buSzPct val="100000"/>
              <a:buChar char="▪"/>
            </a:pPr>
            <a:r>
              <a:rPr lang="en-US" sz="1200" dirty="0">
                <a:solidFill>
                  <a:srgbClr val="C9D4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安全收益：降低对外部商业软件依赖，自主可控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63640" y="4754880"/>
            <a:ext cx="5239512" cy="1417320"/>
          </a:xfrm>
          <a:prstGeom prst="roundRect">
            <a:avLst>
              <a:gd name="adj" fmla="val 4516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2A3B55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92240" y="48920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BB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资金结构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92240" y="5212080"/>
            <a:ext cx="4800600" cy="4770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A8B6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公司内部自发创新：无外部融资、无股权稀释、无对赌压力；当前不追求盈</a:t>
            </a:r>
            <a:endParaRPr lang="en-US" sz="11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A8B6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利，核心是为公司创造效率、能力与安全三重内部收益。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85800" y="6528816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8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P&amp;ID-Agent · 人机协同智能工艺流程图设计平台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9448495" y="6528816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8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青创大赛路演 · 2026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1140135" y="651052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· 怎么走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85800" y="658368"/>
            <a:ext cx="384048" cy="4114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749808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核工业一线出身 · 工程 × 软件 × AI 复合团队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85800" y="1664208"/>
            <a:ext cx="10820095" cy="0"/>
          </a:xfrm>
          <a:prstGeom prst="line">
            <a:avLst/>
          </a:prstGeom>
          <a:noFill/>
          <a:ln w="9525">
            <a:solidFill>
              <a:srgbClr val="1E2C4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828800"/>
            <a:ext cx="3502152" cy="1600200"/>
          </a:xfrm>
          <a:prstGeom prst="roundRect">
            <a:avLst>
              <a:gd name="adj" fmla="val 4000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2A3B55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199339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硕博团队 · 核工业设计一线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14400" y="2450592"/>
            <a:ext cx="3044952" cy="460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8B6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 P&amp;ID 工程语义、行业标准、设计流程有深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8B6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入理解——功能全部来自真实画图痛点。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16552" y="1828800"/>
            <a:ext cx="3502152" cy="1600200"/>
          </a:xfrm>
          <a:prstGeom prst="roundRect">
            <a:avLst>
              <a:gd name="adj" fmla="val 4000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2A3B55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45152" y="199339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全栈技术覆盖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645152" y="2450592"/>
            <a:ext cx="3044952" cy="6446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8B6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 / React / SVG / SQLite / MCP 多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8B6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栈贯通，能独立完成从设计到交付的全链条开发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8B6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47304" y="1828800"/>
            <a:ext cx="3502152" cy="1600200"/>
          </a:xfrm>
          <a:prstGeom prst="roundRect">
            <a:avLst>
              <a:gd name="adj" fmla="val 4000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2A3B55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75904" y="199339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智能体实战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375904" y="2450592"/>
            <a:ext cx="3044952" cy="460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8B6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大模型应用与 Agent 架构一线经验，支撑 AI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8B6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原生产品持续演进。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5800" y="37490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分工矩阵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5800" y="4160520"/>
            <a:ext cx="2011680" cy="1234440"/>
          </a:xfrm>
          <a:prstGeom prst="roundRect">
            <a:avLst>
              <a:gd name="adj" fmla="val 5185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2A3B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29768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产品架构与总体设计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22960" y="4846320"/>
            <a:ext cx="1783080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78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系统架构 · 文档模型 · 技术路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678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线决策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880360" y="4160520"/>
            <a:ext cx="2011680" cy="1234440"/>
          </a:xfrm>
          <a:prstGeom prst="roundRect">
            <a:avLst>
              <a:gd name="adj" fmla="val 5185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2A3B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17520" y="429768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后端开发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017520" y="4846320"/>
            <a:ext cx="1783080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78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FastAPI 服务 · SQLite 持久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678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化 · MCP 接入 · 导出引擎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074920" y="4160520"/>
            <a:ext cx="2011680" cy="1234440"/>
          </a:xfrm>
          <a:prstGeom prst="roundRect">
            <a:avLst>
              <a:gd name="adj" fmla="val 5185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2A3B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12080" y="429768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前端开发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212080" y="4846320"/>
            <a:ext cx="1783080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78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React / TS 编辑器 · SVG 渲染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678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交互设计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269480" y="4160520"/>
            <a:ext cx="2011680" cy="1234440"/>
          </a:xfrm>
          <a:prstGeom prst="roundRect">
            <a:avLst>
              <a:gd name="adj" fmla="val 5185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2A3B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06640" y="429768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模型集成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406640" y="4846320"/>
            <a:ext cx="1783080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78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规划器 · 工具链 · 模型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678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接口适配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464040" y="4160520"/>
            <a:ext cx="2011680" cy="1234440"/>
          </a:xfrm>
          <a:prstGeom prst="roundRect">
            <a:avLst>
              <a:gd name="adj" fmla="val 5185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2A3B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601200" y="429768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测试与质量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9601200" y="4846320"/>
            <a:ext cx="1783080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78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自动化测试 · 质量门禁 · 持续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678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集成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85800" y="5623560"/>
            <a:ext cx="10817352" cy="685800"/>
          </a:xfrm>
          <a:prstGeom prst="roundRect">
            <a:avLst>
              <a:gd name="adj" fmla="val 9333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2A3B55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914400" y="5788152"/>
            <a:ext cx="10378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4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项目由个人发起，依托央企科室孵化，室领导方向把关与资源支持；持续吸纳青年工程师，形成「工程设计 + 软件开发 + AI 应用」复合型团队。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85800" y="6528816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8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P&amp;ID-Agent · 人机协同智能工艺流程图设计平台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9448495" y="6528816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8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青创大赛路演 · 2026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1140135" y="651052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1E2C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68911" y="0"/>
            <a:ext cx="0" cy="6858000"/>
          </a:xfrm>
          <a:prstGeom prst="line">
            <a:avLst/>
          </a:prstGeom>
          <a:noFill/>
          <a:ln w="6350">
            <a:solidFill>
              <a:srgbClr val="1E2C4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7823" y="0"/>
            <a:ext cx="0" cy="6858000"/>
          </a:xfrm>
          <a:prstGeom prst="line">
            <a:avLst/>
          </a:prstGeom>
          <a:noFill/>
          <a:ln w="6350">
            <a:solidFill>
              <a:srgbClr val="1E2C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06734" y="0"/>
            <a:ext cx="0" cy="6858000"/>
          </a:xfrm>
          <a:prstGeom prst="line">
            <a:avLst/>
          </a:prstGeom>
          <a:noFill/>
          <a:ln w="6350">
            <a:solidFill>
              <a:srgbClr val="1E2C4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75645" y="0"/>
            <a:ext cx="0" cy="6858000"/>
          </a:xfrm>
          <a:prstGeom prst="line">
            <a:avLst/>
          </a:prstGeom>
          <a:noFill/>
          <a:ln w="6350">
            <a:solidFill>
              <a:srgbClr val="1E2C4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44557" y="0"/>
            <a:ext cx="0" cy="6858000"/>
          </a:xfrm>
          <a:prstGeom prst="line">
            <a:avLst/>
          </a:prstGeom>
          <a:noFill/>
          <a:ln w="6350">
            <a:solidFill>
              <a:srgbClr val="1E2C4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813468" y="0"/>
            <a:ext cx="0" cy="6858000"/>
          </a:xfrm>
          <a:prstGeom prst="line">
            <a:avLst/>
          </a:prstGeom>
          <a:noFill/>
          <a:ln w="6350">
            <a:solidFill>
              <a:srgbClr val="1E2C4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82379" y="0"/>
            <a:ext cx="0" cy="6858000"/>
          </a:xfrm>
          <a:prstGeom prst="line">
            <a:avLst/>
          </a:prstGeom>
          <a:noFill/>
          <a:ln w="6350">
            <a:solidFill>
              <a:srgbClr val="1E2C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751291" y="0"/>
            <a:ext cx="0" cy="6858000"/>
          </a:xfrm>
          <a:prstGeom prst="line">
            <a:avLst/>
          </a:prstGeom>
          <a:noFill/>
          <a:ln w="6350">
            <a:solidFill>
              <a:srgbClr val="1E2C4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20202" y="0"/>
            <a:ext cx="0" cy="6858000"/>
          </a:xfrm>
          <a:prstGeom prst="line">
            <a:avLst/>
          </a:prstGeom>
          <a:noFill/>
          <a:ln w="6350">
            <a:solidFill>
              <a:srgbClr val="1E2C4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89114" y="0"/>
            <a:ext cx="0" cy="6858000"/>
          </a:xfrm>
          <a:prstGeom prst="line">
            <a:avLst/>
          </a:prstGeom>
          <a:noFill/>
          <a:ln w="6350">
            <a:solidFill>
              <a:srgbClr val="1E2C4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158025" y="0"/>
            <a:ext cx="0" cy="6858000"/>
          </a:xfrm>
          <a:prstGeom prst="line">
            <a:avLst/>
          </a:prstGeom>
          <a:noFill/>
          <a:ln w="6350">
            <a:solidFill>
              <a:srgbClr val="1E2C4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26936" y="0"/>
            <a:ext cx="0" cy="6858000"/>
          </a:xfrm>
          <a:prstGeom prst="line">
            <a:avLst/>
          </a:prstGeom>
          <a:noFill/>
          <a:ln w="6350">
            <a:solidFill>
              <a:srgbClr val="1E2C4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95848" y="0"/>
            <a:ext cx="0" cy="6858000"/>
          </a:xfrm>
          <a:prstGeom prst="line">
            <a:avLst/>
          </a:prstGeom>
          <a:noFill/>
          <a:ln w="6350">
            <a:solidFill>
              <a:srgbClr val="1E2C4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64759" y="0"/>
            <a:ext cx="0" cy="6858000"/>
          </a:xfrm>
          <a:prstGeom prst="line">
            <a:avLst/>
          </a:prstGeom>
          <a:noFill/>
          <a:ln w="6350">
            <a:solidFill>
              <a:srgbClr val="1E2C4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33670" y="0"/>
            <a:ext cx="0" cy="6858000"/>
          </a:xfrm>
          <a:prstGeom prst="line">
            <a:avLst/>
          </a:prstGeom>
          <a:noFill/>
          <a:ln w="6350">
            <a:solidFill>
              <a:srgbClr val="1E2C4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502582" y="0"/>
            <a:ext cx="0" cy="6858000"/>
          </a:xfrm>
          <a:prstGeom prst="line">
            <a:avLst/>
          </a:prstGeom>
          <a:noFill/>
          <a:ln w="6350">
            <a:solidFill>
              <a:srgbClr val="1E2C4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71493" y="0"/>
            <a:ext cx="0" cy="6858000"/>
          </a:xfrm>
          <a:prstGeom prst="line">
            <a:avLst/>
          </a:prstGeom>
          <a:noFill/>
          <a:ln w="6350">
            <a:solidFill>
              <a:srgbClr val="1E2C4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40404" y="0"/>
            <a:ext cx="0" cy="6858000"/>
          </a:xfrm>
          <a:prstGeom prst="line">
            <a:avLst/>
          </a:prstGeom>
          <a:noFill/>
          <a:ln w="6350">
            <a:solidFill>
              <a:srgbClr val="1E2C4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909316" y="0"/>
            <a:ext cx="0" cy="6858000"/>
          </a:xfrm>
          <a:prstGeom prst="line">
            <a:avLst/>
          </a:prstGeom>
          <a:noFill/>
          <a:ln w="6350">
            <a:solidFill>
              <a:srgbClr val="1E2C4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378227" y="0"/>
            <a:ext cx="0" cy="6858000"/>
          </a:xfrm>
          <a:prstGeom prst="line">
            <a:avLst/>
          </a:prstGeom>
          <a:noFill/>
          <a:ln w="6350">
            <a:solidFill>
              <a:srgbClr val="1E2C4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847138" y="0"/>
            <a:ext cx="0" cy="6858000"/>
          </a:xfrm>
          <a:prstGeom prst="line">
            <a:avLst/>
          </a:prstGeom>
          <a:noFill/>
          <a:ln w="6350">
            <a:solidFill>
              <a:srgbClr val="1E2C4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316050" y="0"/>
            <a:ext cx="0" cy="6858000"/>
          </a:xfrm>
          <a:prstGeom prst="line">
            <a:avLst/>
          </a:prstGeom>
          <a:noFill/>
          <a:ln w="6350">
            <a:solidFill>
              <a:srgbClr val="1E2C4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784961" y="0"/>
            <a:ext cx="0" cy="6858000"/>
          </a:xfrm>
          <a:prstGeom prst="line">
            <a:avLst/>
          </a:prstGeom>
          <a:noFill/>
          <a:ln w="6350">
            <a:solidFill>
              <a:srgbClr val="1E2C4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253872" y="0"/>
            <a:ext cx="0" cy="6858000"/>
          </a:xfrm>
          <a:prstGeom prst="line">
            <a:avLst/>
          </a:prstGeom>
          <a:noFill/>
          <a:ln w="6350">
            <a:solidFill>
              <a:srgbClr val="1E2C4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722784" y="0"/>
            <a:ext cx="0" cy="6858000"/>
          </a:xfrm>
          <a:prstGeom prst="line">
            <a:avLst/>
          </a:prstGeom>
          <a:noFill/>
          <a:ln w="6350">
            <a:solidFill>
              <a:srgbClr val="1E2C4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2191695" y="0"/>
            <a:ext cx="0" cy="6858000"/>
          </a:xfrm>
          <a:prstGeom prst="line">
            <a:avLst/>
          </a:prstGeom>
          <a:noFill/>
          <a:ln w="6350">
            <a:solidFill>
              <a:srgbClr val="1E2C4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1E2C4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457200"/>
            <a:ext cx="12191695" cy="0"/>
          </a:xfrm>
          <a:prstGeom prst="line">
            <a:avLst/>
          </a:prstGeom>
          <a:noFill/>
          <a:ln w="6350">
            <a:solidFill>
              <a:srgbClr val="1E2C4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914400"/>
            <a:ext cx="12191695" cy="0"/>
          </a:xfrm>
          <a:prstGeom prst="line">
            <a:avLst/>
          </a:prstGeom>
          <a:noFill/>
          <a:ln w="6350">
            <a:solidFill>
              <a:srgbClr val="1E2C4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1371600"/>
            <a:ext cx="12191695" cy="0"/>
          </a:xfrm>
          <a:prstGeom prst="line">
            <a:avLst/>
          </a:prstGeom>
          <a:noFill/>
          <a:ln w="6350">
            <a:solidFill>
              <a:srgbClr val="1E2C4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1828800"/>
            <a:ext cx="12191695" cy="0"/>
          </a:xfrm>
          <a:prstGeom prst="line">
            <a:avLst/>
          </a:prstGeom>
          <a:noFill/>
          <a:ln w="6350">
            <a:solidFill>
              <a:srgbClr val="1E2C4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2286000"/>
            <a:ext cx="12191695" cy="0"/>
          </a:xfrm>
          <a:prstGeom prst="line">
            <a:avLst/>
          </a:prstGeom>
          <a:noFill/>
          <a:ln w="6350">
            <a:solidFill>
              <a:srgbClr val="1E2C4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6350">
            <a:solidFill>
              <a:srgbClr val="1E2C4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3200400"/>
            <a:ext cx="12191695" cy="0"/>
          </a:xfrm>
          <a:prstGeom prst="line">
            <a:avLst/>
          </a:prstGeom>
          <a:noFill/>
          <a:ln w="6350">
            <a:solidFill>
              <a:srgbClr val="1E2C4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3657600"/>
            <a:ext cx="12191695" cy="0"/>
          </a:xfrm>
          <a:prstGeom prst="line">
            <a:avLst/>
          </a:prstGeom>
          <a:noFill/>
          <a:ln w="6350">
            <a:solidFill>
              <a:srgbClr val="1E2C4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114800"/>
            <a:ext cx="12191695" cy="0"/>
          </a:xfrm>
          <a:prstGeom prst="line">
            <a:avLst/>
          </a:prstGeom>
          <a:noFill/>
          <a:ln w="6350">
            <a:solidFill>
              <a:srgbClr val="1E2C4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4572000"/>
            <a:ext cx="12191695" cy="0"/>
          </a:xfrm>
          <a:prstGeom prst="line">
            <a:avLst/>
          </a:prstGeom>
          <a:noFill/>
          <a:ln w="6350">
            <a:solidFill>
              <a:srgbClr val="1E2C4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5029200"/>
            <a:ext cx="12191695" cy="0"/>
          </a:xfrm>
          <a:prstGeom prst="line">
            <a:avLst/>
          </a:prstGeom>
          <a:noFill/>
          <a:ln w="6350">
            <a:solidFill>
              <a:srgbClr val="1E2C4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6350">
            <a:solidFill>
              <a:srgbClr val="1E2C4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5943600"/>
            <a:ext cx="12191695" cy="0"/>
          </a:xfrm>
          <a:prstGeom prst="line">
            <a:avLst/>
          </a:prstGeom>
          <a:noFill/>
          <a:ln w="6350">
            <a:solidFill>
              <a:srgbClr val="1E2C4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0" y="6400800"/>
            <a:ext cx="12191695" cy="0"/>
          </a:xfrm>
          <a:prstGeom prst="line">
            <a:avLst/>
          </a:prstGeom>
          <a:noFill/>
          <a:ln w="6350">
            <a:solidFill>
              <a:srgbClr val="1E2C4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0" y="6858000"/>
            <a:ext cx="12191695" cy="0"/>
          </a:xfrm>
          <a:prstGeom prst="line">
            <a:avLst/>
          </a:prstGeom>
          <a:noFill/>
          <a:ln w="6350">
            <a:solidFill>
              <a:srgbClr val="1E2C4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561320" y="91440"/>
            <a:ext cx="1600200" cy="1600200"/>
          </a:xfrm>
          <a:prstGeom prst="ellipse">
            <a:avLst/>
          </a:prstGeom>
          <a:solidFill>
            <a:srgbClr val="3B82F6">
              <a:alpha val="12000"/>
            </a:srgbClr>
          </a:solidFill>
          <a:ln w="6350">
            <a:solidFill>
              <a:srgbClr val="0B122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0561320" y="5257800"/>
            <a:ext cx="1600200" cy="1600200"/>
          </a:xfrm>
          <a:prstGeom prst="ellipse">
            <a:avLst/>
          </a:prstGeom>
          <a:solidFill>
            <a:srgbClr val="22D3EE">
              <a:alpha val="10000"/>
            </a:srgbClr>
          </a:solidFill>
          <a:ln w="6350">
            <a:solidFill>
              <a:srgbClr val="0B122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709928" y="1051560"/>
            <a:ext cx="8778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 AI 增强工程师，而不是替代工程师</a:t>
            </a:r>
            <a:endParaRPr lang="en-US" sz="3000" dirty="0"/>
          </a:p>
        </p:txBody>
      </p:sp>
      <p:sp>
        <p:nvSpPr>
          <p:cNvPr id="48" name="Shape 46"/>
          <p:cNvSpPr/>
          <p:nvPr/>
        </p:nvSpPr>
        <p:spPr>
          <a:xfrm>
            <a:off x="5458968" y="1920240"/>
            <a:ext cx="1280160" cy="4572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9" name="Text 47"/>
          <p:cNvSpPr/>
          <p:nvPr/>
        </p:nvSpPr>
        <p:spPr>
          <a:xfrm>
            <a:off x="1984248" y="22860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C9D4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未来的工程设计，不是用更复杂的软件替代工程师，而是让工程师专注于创造性的工艺设计决策，</a:t>
            </a:r>
            <a:endParaRPr lang="en-US" sz="150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C9D4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把重复的画图、标注与检查工作交给智能工具。</a:t>
            </a:r>
            <a:endParaRPr lang="en-US" sz="1500" dirty="0"/>
          </a:p>
        </p:txBody>
      </p:sp>
      <p:sp>
        <p:nvSpPr>
          <p:cNvPr id="50" name="Text 48"/>
          <p:cNvSpPr/>
          <p:nvPr/>
        </p:nvSpPr>
        <p:spPr>
          <a:xfrm>
            <a:off x="685800" y="3977640"/>
            <a:ext cx="10817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DE9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成为流程工业领域最广泛使用的开源 P&amp;ID 工具</a:t>
            </a:r>
            <a:endParaRPr lang="en-US" sz="1700" dirty="0"/>
          </a:p>
        </p:txBody>
      </p:sp>
      <p:sp>
        <p:nvSpPr>
          <p:cNvPr id="51" name="Shape 49"/>
          <p:cNvSpPr/>
          <p:nvPr/>
        </p:nvSpPr>
        <p:spPr>
          <a:xfrm>
            <a:off x="4206240" y="4800600"/>
            <a:ext cx="1729359" cy="292608"/>
          </a:xfrm>
          <a:prstGeom prst="roundRect">
            <a:avLst>
              <a:gd name="adj" fmla="val 50000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2A3B5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279392" y="4841748"/>
            <a:ext cx="1583055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 MIT · GitHub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6209919" y="4800600"/>
            <a:ext cx="1739138" cy="292608"/>
          </a:xfrm>
          <a:prstGeom prst="roundRect">
            <a:avLst>
              <a:gd name="adj" fmla="val 50000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2A3B5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283071" y="4841748"/>
            <a:ext cx="1592834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欢迎试用 · 欢迎共建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2441448" y="5760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5DE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国家电投集团钍基能源科技有限公司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3355848" y="6126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78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谢谢观看 · THANKS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国家电投集团钍基能源科技有限公司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P&amp;ID-Agent 路演</dc:title>
  <dc:subject>PptxGenJS Presentation</dc:subject>
  <dc:creator>P&amp;ID-Agent Team</dc:creator>
  <cp:lastModifiedBy>P&amp;ID-Agent Team</cp:lastModifiedBy>
  <cp:revision>1</cp:revision>
  <dcterms:created xsi:type="dcterms:W3CDTF">2026-08-20T06:46:17Z</dcterms:created>
  <dcterms:modified xsi:type="dcterms:W3CDTF">2026-08-20T06:46:17Z</dcterms:modified>
</cp:coreProperties>
</file>